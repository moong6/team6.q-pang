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3"/>
  </p:sldMasterIdLst>
  <p:notesMasterIdLst>
    <p:notesMasterId r:id="rId19"/>
  </p:notesMasterIdLst>
  <p:sldIdLst>
    <p:sldId id="964" r:id="rId4"/>
    <p:sldId id="339" r:id="rId5"/>
    <p:sldId id="1114" r:id="rId6"/>
    <p:sldId id="1154" r:id="rId7"/>
    <p:sldId id="972" r:id="rId8"/>
    <p:sldId id="1155" r:id="rId9"/>
    <p:sldId id="1157" r:id="rId10"/>
    <p:sldId id="1158" r:id="rId11"/>
    <p:sldId id="1159" r:id="rId12"/>
    <p:sldId id="1164" r:id="rId13"/>
    <p:sldId id="1160" r:id="rId14"/>
    <p:sldId id="1161" r:id="rId15"/>
    <p:sldId id="1162" r:id="rId16"/>
    <p:sldId id="1163" r:id="rId17"/>
    <p:sldId id="1053" r:id="rId18"/>
  </p:sldIdLst>
  <p:sldSz cx="9906000" cy="6858000" type="A4"/>
  <p:notesSz cx="6858000" cy="9144000"/>
  <p:embeddedFontLst>
    <p:embeddedFont>
      <p:font typeface="HY견고딕" panose="02030600000101010101" pitchFamily="18" charset="-127"/>
      <p:regular r:id="rId20"/>
    </p:embeddedFont>
    <p:embeddedFont>
      <p:font typeface="KoPub돋움체 Bold" panose="00000800000000000000" pitchFamily="2" charset="-127"/>
      <p:bold r:id="rId21"/>
    </p:embeddedFont>
    <p:embeddedFont>
      <p:font typeface="맑은 고딕" panose="020B0503020000020004" pitchFamily="50" charset="-127"/>
      <p:regular r:id="rId22"/>
      <p:bold r:id="rId23"/>
    </p:embeddedFont>
    <p:embeddedFont>
      <p:font typeface="KoPub바탕체 Bold" panose="00000800000000000000" pitchFamily="2" charset="-127"/>
      <p:bold r:id="rId24"/>
    </p:embeddedFont>
    <p:embeddedFont>
      <p:font typeface="KoPub돋움체 Medium" panose="00000600000000000000" pitchFamily="2" charset="-127"/>
      <p:regular r:id="rId25"/>
    </p:embeddedFont>
    <p:embeddedFont>
      <p:font typeface="KoPub바탕체 Medium" panose="00000600000000000000" pitchFamily="2" charset="-127"/>
      <p:regular r:id="rId26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3642" userDrawn="1">
          <p15:clr>
            <a:srgbClr val="A4A3A4"/>
          </p15:clr>
        </p15:guide>
        <p15:guide id="3" orient="horz" pos="981" userDrawn="1">
          <p15:clr>
            <a:srgbClr val="A4A3A4"/>
          </p15:clr>
        </p15:guide>
        <p15:guide id="5" orient="horz" pos="1525" userDrawn="1">
          <p15:clr>
            <a:srgbClr val="A4A3A4"/>
          </p15:clr>
        </p15:guide>
        <p15:guide id="7" pos="285" userDrawn="1">
          <p15:clr>
            <a:srgbClr val="A4A3A4"/>
          </p15:clr>
        </p15:guide>
        <p15:guide id="8" pos="6023" userDrawn="1">
          <p15:clr>
            <a:srgbClr val="A4A3A4"/>
          </p15:clr>
        </p15:guide>
        <p15:guide id="9" orient="horz" pos="2047" userDrawn="1">
          <p15:clr>
            <a:srgbClr val="A4A3A4"/>
          </p15:clr>
        </p15:guide>
        <p15:guide id="10" orient="horz" pos="3249" userDrawn="1">
          <p15:clr>
            <a:srgbClr val="A4A3A4"/>
          </p15:clr>
        </p15:guide>
        <p15:guide id="11" orient="horz" pos="2523" userDrawn="1">
          <p15:clr>
            <a:srgbClr val="A4A3A4"/>
          </p15:clr>
        </p15:guide>
        <p15:guide id="12" orient="horz" pos="265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9F5F5"/>
    <a:srgbClr val="AAAAAA"/>
    <a:srgbClr val="9B9B9B"/>
    <a:srgbClr val="333F50"/>
    <a:srgbClr val="FFFFFF"/>
    <a:srgbClr val="D3D0FF"/>
    <a:srgbClr val="70AD47"/>
    <a:srgbClr val="FFC000"/>
    <a:srgbClr val="4472C4"/>
    <a:srgbClr val="C55A1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9441" autoAdjust="0"/>
    <p:restoredTop sz="93378" autoAdjust="0"/>
  </p:normalViewPr>
  <p:slideViewPr>
    <p:cSldViewPr snapToGrid="0" showGuides="1">
      <p:cViewPr varScale="1">
        <p:scale>
          <a:sx n="107" d="100"/>
          <a:sy n="107" d="100"/>
        </p:scale>
        <p:origin x="1260" y="114"/>
      </p:cViewPr>
      <p:guideLst>
        <p:guide pos="3642"/>
        <p:guide orient="horz" pos="981"/>
        <p:guide orient="horz" pos="1525"/>
        <p:guide pos="285"/>
        <p:guide pos="6023"/>
        <p:guide orient="horz" pos="2047"/>
        <p:guide orient="horz" pos="3249"/>
        <p:guide orient="horz" pos="2523"/>
        <p:guide orient="horz" pos="2659"/>
      </p:guideLst>
    </p:cSldViewPr>
  </p:slideViewPr>
  <p:outlineViewPr>
    <p:cViewPr>
      <p:scale>
        <a:sx n="33" d="100"/>
        <a:sy n="33" d="100"/>
      </p:scale>
      <p:origin x="0" y="-534"/>
    </p:cViewPr>
  </p:outlineViewPr>
  <p:notesTextViewPr>
    <p:cViewPr>
      <p:scale>
        <a:sx n="300" d="100"/>
        <a:sy n="300" d="100"/>
      </p:scale>
      <p:origin x="0" y="0"/>
    </p:cViewPr>
  </p:notesTextViewPr>
  <p:sorterViewPr>
    <p:cViewPr>
      <p:scale>
        <a:sx n="150" d="100"/>
        <a:sy n="150" d="100"/>
      </p:scale>
      <p:origin x="0" y="-3018"/>
    </p:cViewPr>
  </p:sorterViewPr>
  <p:notesViewPr>
    <p:cSldViewPr snapToGrid="0">
      <p:cViewPr varScale="1">
        <p:scale>
          <a:sx n="79" d="100"/>
          <a:sy n="79" d="100"/>
        </p:scale>
        <p:origin x="3189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font" Target="fonts/font7.fntdata"/><Relationship Id="rId3" Type="http://schemas.openxmlformats.org/officeDocument/2006/relationships/slideMaster" Target="slideMasters/slideMaster1.xml"/><Relationship Id="rId21" Type="http://schemas.openxmlformats.org/officeDocument/2006/relationships/font" Target="fonts/font2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font" Target="fonts/font6.fntdata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font" Target="fonts/font1.fntdata"/><Relationship Id="rId29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5.fntdata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font" Target="fonts/font4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3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C2CF2790-36C3-4058-99BA-437BEEC82D97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951FA25B-5CD1-4D7F-B684-21BE90FEE3E2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95845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KoPub돋움체 Medium" panose="00000600000000000000" pitchFamily="2" charset="-127"/>
        <a:ea typeface="KoPub돋움체 Medium" panose="00000600000000000000" pitchFamily="2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pPr/>
              <a:t>1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355495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CAFB3A-8DEC-B692-242D-E5FBACABAF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B9EF496-8574-B620-76B1-436776EC804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1324939A-7401-18CF-C810-868B5E6FB01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6BD5674-7111-6FD1-0688-F4D128E1301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885337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A8B026-BD67-5FCA-1898-45A84AAA3C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2D1334C1-010F-993B-7971-705B43B542F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5CAB0640-B9CD-E6FB-D25E-A4BB25C1D22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EA25B582-E7B9-EEE9-252E-2A6A968FA2C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0781806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980847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086B49-E853-A40A-D1AC-086DC9733F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65347DC-FE80-B559-35C9-6B878A2E4B3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AB9F274-105E-EA7F-4556-8D996CC5428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92EBE425-0D66-CC32-74F8-D07A290C86B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951FA25B-5CD1-4D7F-B684-21BE90FEE3E2}" type="slidenum">
              <a:rPr lang="ko-KR" altLang="en-US" smtClean="0"/>
              <a:t>6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6269099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0262923-C088-91BC-3740-BF4B6CB32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1CD1062-47C2-7539-390A-20A08D8DC49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06936D0-8A4B-5914-2C25-81814E8CDF8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6C23D6C6-A085-0A5A-25AE-C256BCE2195E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2440074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DE7CDE-1219-5495-C065-D887E4D818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4FF9BA3-73BC-C112-F498-556970F7A15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09F2389B-6231-95BB-011D-C6CD8EFFEAD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87841117-8092-41AA-2070-3C420EBD2B4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72255506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EA4510-DA0D-5D8B-A97B-C0C0995132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A19FA04B-61B8-67DB-AF84-859C8D3D9B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7E35426-C459-55B8-0A8C-B504E7412BE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0456CAE-72F7-EE94-B48E-98FED74E3C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47737241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8E3A779-930D-126F-BD1B-2575C3D5EB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6AD768CF-0CC3-3A8A-7008-64EBC817023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4C9933B-200B-CB3F-88CB-F4880DCB1E5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001901AB-F331-38C4-1131-42A9FCAF56D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8995949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FC81895-9B03-6372-B25D-ACA767A343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748F696C-909C-00E5-B4A4-620A34B811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15D0E63-5BAA-DAB9-7408-6B429FB3C4E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FCAA560-BDA1-85DF-8AD7-AF720935D1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06743848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2348E5-8C13-D237-B7CC-1DFBF6DED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0E320386-3997-4956-F8C3-F4228FCB9B6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A48F5A3B-71D6-E867-8392-4D7D093D888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38BB158A-927F-D1C0-2C99-076F34F40F7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5792059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CB3651-B80C-79BB-C78F-8BD847F2EA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85D3415-091E-8545-172F-7F3848359A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5CCDAC4-0082-1323-9AAE-994C31A3379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2FEDC57F-F272-A593-CC36-50B88187E54C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14221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B13B71-FDE7-83B0-1044-4E0BBB5AF0E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418DA9BD-1555-6070-1FC9-C0118AC875C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79978D40-80AB-D177-D6EF-FCBCA1EDDD0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4510569C-EE12-9056-8963-E56402118A29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51FA25B-5CD1-4D7F-B684-21BE90FEE3E2}" type="slidenum">
              <a:rPr kumimoji="0" lang="ko-KR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  <a:cs typeface="+mn-cs"/>
              </a:rPr>
              <a:pPr marL="0" marR="0" lvl="0" indent="0" algn="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14</a:t>
            </a:fld>
            <a:endParaRPr kumimoji="0" lang="ko-KR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61352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://gw.sweduhub.or.kr/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 Placeholder 5"/>
          <p:cNvSpPr txBox="1">
            <a:spLocks/>
          </p:cNvSpPr>
          <p:nvPr userDrawn="1"/>
        </p:nvSpPr>
        <p:spPr>
          <a:xfrm>
            <a:off x="4655542" y="6527240"/>
            <a:ext cx="594914" cy="3274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457200" rtl="0" eaLnBrk="1" latinLnBrk="0" hangingPunct="1">
              <a:defRPr sz="9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BC212190-00C3-46F0-A99A-93B4F6B82538}" type="slidenum">
              <a:rPr lang="ko-KR" altLang="en-US" smtClean="0">
                <a:solidFill>
                  <a:prstClr val="black">
                    <a:tint val="7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pPr/>
              <a:t>‹#›</a:t>
            </a:fld>
            <a:endParaRPr lang="ko-KR" altLang="en-US" dirty="0">
              <a:solidFill>
                <a:prstClr val="black">
                  <a:tint val="7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/>
          <p:cNvSpPr/>
          <p:nvPr userDrawn="1"/>
        </p:nvSpPr>
        <p:spPr>
          <a:xfrm>
            <a:off x="0" y="-104"/>
            <a:ext cx="9906000" cy="760474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1231F459-6646-4CE8-8DBF-8083AECAF61E}"/>
              </a:ext>
            </a:extLst>
          </p:cNvPr>
          <p:cNvSpPr/>
          <p:nvPr userDrawn="1"/>
        </p:nvSpPr>
        <p:spPr>
          <a:xfrm>
            <a:off x="-1" y="717367"/>
            <a:ext cx="9907200" cy="8600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212626" y="160720"/>
            <a:ext cx="7332917" cy="502218"/>
          </a:xfrm>
        </p:spPr>
        <p:txBody>
          <a:bodyPr>
            <a:noAutofit/>
          </a:bodyPr>
          <a:lstStyle>
            <a:lvl1pPr marL="0" algn="l" defTabSz="457200" rtl="0" eaLnBrk="1" latinLnBrk="0" hangingPunct="1">
              <a:defRPr lang="en-US" sz="2200" kern="1200" spc="-80" baseline="0" dirty="0">
                <a:ln w="12700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defRPr>
            </a:lvl1pPr>
          </a:lstStyle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cxnSp>
        <p:nvCxnSpPr>
          <p:cNvPr id="19" name="직선 연결선 18">
            <a:extLst>
              <a:ext uri="{FF2B5EF4-FFF2-40B4-BE49-F238E27FC236}">
                <a16:creationId xmlns:a16="http://schemas.microsoft.com/office/drawing/2014/main" id="{975E7818-A976-482B-8590-6E43FCC160C9}"/>
              </a:ext>
            </a:extLst>
          </p:cNvPr>
          <p:cNvCxnSpPr>
            <a:cxnSpLocks/>
          </p:cNvCxnSpPr>
          <p:nvPr userDrawn="1"/>
        </p:nvCxnSpPr>
        <p:spPr>
          <a:xfrm>
            <a:off x="273050" y="6493791"/>
            <a:ext cx="9359900" cy="0"/>
          </a:xfrm>
          <a:prstGeom prst="line">
            <a:avLst/>
          </a:prstGeom>
          <a:noFill/>
          <a:ln w="19050" cap="flat" cmpd="sng" algn="ctr">
            <a:solidFill>
              <a:schemeClr val="tx2">
                <a:lumMod val="75000"/>
              </a:schemeClr>
            </a:solidFill>
            <a:prstDash val="solid"/>
            <a:miter lim="800000"/>
          </a:ln>
          <a:effectLst/>
        </p:spPr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AB032B02-47C3-4168-A4D4-3FB8F99E3363}"/>
              </a:ext>
            </a:extLst>
          </p:cNvPr>
          <p:cNvSpPr txBox="1"/>
          <p:nvPr userDrawn="1"/>
        </p:nvSpPr>
        <p:spPr>
          <a:xfrm>
            <a:off x="292732" y="6605896"/>
            <a:ext cx="740587" cy="1384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defTabSz="457200" latinLnBrk="0"/>
            <a:r>
              <a:rPr lang="ko-KR" altLang="en-US" sz="900" dirty="0">
                <a:gradFill>
                  <a:gsLst>
                    <a:gs pos="0">
                      <a:schemeClr val="tx1">
                        <a:lumMod val="50000"/>
                        <a:lumOff val="50000"/>
                      </a:schemeClr>
                    </a:gs>
                    <a:gs pos="100000">
                      <a:schemeClr val="tx1">
                        <a:lumMod val="50000"/>
                        <a:lumOff val="50000"/>
                      </a:schemeClr>
                    </a:gs>
                  </a:gsLst>
                  <a:lin ang="5400000" scaled="0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강화학습의 기초</a:t>
            </a:r>
          </a:p>
        </p:txBody>
      </p:sp>
      <p:pic>
        <p:nvPicPr>
          <p:cNvPr id="21" name="Picture 2">
            <a:hlinkClick r:id="rId2"/>
            <a:extLst>
              <a:ext uri="{FF2B5EF4-FFF2-40B4-BE49-F238E27FC236}">
                <a16:creationId xmlns:a16="http://schemas.microsoft.com/office/drawing/2014/main" id="{F1E2AF34-7A00-4158-BF3E-7A79E06D14F9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8084876" y="6542408"/>
            <a:ext cx="1725874" cy="28490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28894225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120">
          <p15:clr>
            <a:srgbClr val="FBAE40"/>
          </p15:clr>
        </p15:guide>
        <p15:guide id="2" pos="172">
          <p15:clr>
            <a:srgbClr val="FBAE40"/>
          </p15:clr>
        </p15:guide>
        <p15:guide id="3" pos="6068">
          <p15:clr>
            <a:srgbClr val="FBAE40"/>
          </p15:clr>
        </p15:guide>
        <p15:guide id="4" orient="horz" pos="686">
          <p15:clr>
            <a:srgbClr val="FBAE40"/>
          </p15:clr>
        </p15:guide>
        <p15:guide id="5" orient="horz" pos="2260">
          <p15:clr>
            <a:srgbClr val="FBAE40"/>
          </p15:clr>
        </p15:guide>
        <p15:guide id="6" orient="horz" pos="3952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478BFAC-5339-43C3-A39F-2C9CA634052D}" type="datetimeFigureOut">
              <a:rPr lang="ko-KR" altLang="en-US" smtClean="0"/>
              <a:t>2025-12-07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7CC8F5E-4F2C-4EAD-BB2B-283E837E3DC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8698002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2160" userDrawn="1">
          <p15:clr>
            <a:srgbClr val="FBAE40"/>
          </p15:clr>
        </p15:guide>
        <p15:guide id="2" pos="3120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dirty="0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C478BFAC-5339-43C3-A39F-2C9CA634052D}" type="datetimeFigureOut">
              <a:rPr lang="ko-KR" altLang="en-US" smtClean="0"/>
              <a:pPr/>
              <a:t>2025-12-07</a:t>
            </a:fld>
            <a:endParaRPr lang="ko-KR" alt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endParaRPr lang="ko-KR" alt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defRPr>
            </a:lvl1pPr>
          </a:lstStyle>
          <a:p>
            <a:fld id="{E7CC8F5E-4F2C-4EAD-BB2B-283E837E3DC5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225239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4" r:id="rId2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KoPub돋움체 Medium" panose="00000600000000000000" pitchFamily="2" charset="-127"/>
          <a:ea typeface="KoPub돋움체 Bold" panose="00000800000000000000" pitchFamily="2" charset="-127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KoPub돋움체 Medium" panose="00000600000000000000" pitchFamily="2" charset="-127"/>
          <a:ea typeface="KoPub돋움체 Medium" panose="00000600000000000000" pitchFamily="2" charset="-127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12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gw.sweduhub.or.kr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github.com/Moong6/RL_Project" TargetMode="External"/><Relationship Id="rId5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://gw.sweduhub.or.kr/" TargetMode="External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jp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7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A3455E-3061-4EF9-90C7-073CDDA0B1F9}"/>
              </a:ext>
            </a:extLst>
          </p:cNvPr>
          <p:cNvSpPr/>
          <p:nvPr/>
        </p:nvSpPr>
        <p:spPr>
          <a:xfrm>
            <a:off x="-6478" y="0"/>
            <a:ext cx="9912478" cy="2307085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D389D167-BC0E-4E4D-A401-690BC65F8962}"/>
              </a:ext>
            </a:extLst>
          </p:cNvPr>
          <p:cNvSpPr/>
          <p:nvPr/>
        </p:nvSpPr>
        <p:spPr>
          <a:xfrm>
            <a:off x="-6350" y="2294389"/>
            <a:ext cx="9912350" cy="135377"/>
          </a:xfrm>
          <a:prstGeom prst="rect">
            <a:avLst/>
          </a:prstGeom>
          <a:solidFill>
            <a:schemeClr val="tx2">
              <a:lumMod val="5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093DFCD-F498-45FD-971C-BF3DEC02A9EB}"/>
              </a:ext>
            </a:extLst>
          </p:cNvPr>
          <p:cNvSpPr txBox="1"/>
          <p:nvPr/>
        </p:nvSpPr>
        <p:spPr>
          <a:xfrm>
            <a:off x="4021020" y="6212085"/>
            <a:ext cx="1863960" cy="32053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2025.12.7.</a:t>
            </a:r>
            <a:endParaRPr lang="ko-KR" altLang="en-US" sz="20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4B00874-83BF-4910-A9B8-937332C26836}"/>
              </a:ext>
            </a:extLst>
          </p:cNvPr>
          <p:cNvSpPr txBox="1"/>
          <p:nvPr/>
        </p:nvSpPr>
        <p:spPr>
          <a:xfrm>
            <a:off x="713772" y="2678113"/>
            <a:ext cx="8478456" cy="10874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8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『 </a:t>
            </a:r>
            <a:r>
              <a:rPr lang="ko-KR" altLang="en-US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불확실한 수요 환경에서의 적응형 재고 관리</a:t>
            </a:r>
            <a:r>
              <a:rPr lang="en-US" altLang="ko-KR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</a:t>
            </a:r>
            <a:br>
              <a:rPr lang="en-US" altLang="ko-KR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</a:br>
            <a:r>
              <a:rPr lang="en-US" altLang="ko-KR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Deep Q-Network </a:t>
            </a:r>
            <a:r>
              <a:rPr lang="ko-KR" altLang="en-US" sz="28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접근</a:t>
            </a:r>
            <a:r>
              <a:rPr lang="en-US" altLang="ko-KR" sz="2800" dirty="0">
                <a:solidFill>
                  <a:prstClr val="black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』</a:t>
            </a:r>
            <a:endParaRPr lang="ko-KR" altLang="en-US" sz="2800" dirty="0">
              <a:solidFill>
                <a:prstClr val="black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1C18FF9-D4B4-5BF5-D97D-96E3DE8E6AFA}"/>
              </a:ext>
            </a:extLst>
          </p:cNvPr>
          <p:cNvSpPr txBox="1"/>
          <p:nvPr/>
        </p:nvSpPr>
        <p:spPr>
          <a:xfrm>
            <a:off x="713772" y="892331"/>
            <a:ext cx="8478456" cy="10167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120000"/>
              </a:lnSpc>
            </a:pPr>
            <a:r>
              <a:rPr lang="en-US" altLang="ko-KR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2025</a:t>
            </a:r>
            <a:r>
              <a:rPr lang="ko-KR" altLang="en-US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년도 </a:t>
            </a:r>
            <a:r>
              <a:rPr lang="en-US" altLang="ko-KR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2</a:t>
            </a:r>
            <a:r>
              <a:rPr lang="ko-KR" altLang="en-US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학기 서강대학교 </a:t>
            </a:r>
            <a:r>
              <a:rPr lang="en-US" altLang="ko-KR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AI·SW</a:t>
            </a:r>
            <a:r>
              <a:rPr lang="ko-KR" altLang="en-US" sz="2000" dirty="0">
                <a:solidFill>
                  <a:srgbClr val="FFC000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대학원</a:t>
            </a:r>
            <a:endParaRPr lang="en-US" altLang="ko-KR" sz="2000" dirty="0">
              <a:solidFill>
                <a:srgbClr val="FFC000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  <a:p>
            <a:pPr algn="ctr">
              <a:lnSpc>
                <a:spcPct val="120000"/>
              </a:lnSpc>
            </a:pPr>
            <a:r>
              <a:rPr lang="ko-KR" altLang="en-US" sz="3000" dirty="0">
                <a:solidFill>
                  <a:schemeClr val="bg1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강화학습의 기초</a:t>
            </a:r>
          </a:p>
        </p:txBody>
      </p:sp>
      <p:pic>
        <p:nvPicPr>
          <p:cNvPr id="5" name="Picture 2">
            <a:hlinkClick r:id="rId3"/>
            <a:extLst>
              <a:ext uri="{FF2B5EF4-FFF2-40B4-BE49-F238E27FC236}">
                <a16:creationId xmlns:a16="http://schemas.microsoft.com/office/drawing/2014/main" id="{E0181C0D-84DF-BA45-A38D-FC86BA872E3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868975" y="6466208"/>
            <a:ext cx="1950227" cy="3219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0DA53B35-516C-6A56-F6D4-34AA7056508D}"/>
              </a:ext>
            </a:extLst>
          </p:cNvPr>
          <p:cNvSpPr txBox="1"/>
          <p:nvPr/>
        </p:nvSpPr>
        <p:spPr>
          <a:xfrm>
            <a:off x="8536781" y="5324022"/>
            <a:ext cx="2189163" cy="759952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400" dirty="0" err="1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팀명</a:t>
            </a: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: Q-Pang</a:t>
            </a: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A71035 </a:t>
            </a:r>
            <a:r>
              <a:rPr lang="ko-KR" altLang="en-US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어준성</a:t>
            </a:r>
            <a:endParaRPr lang="en-US" altLang="ko-KR" sz="1400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A72063 </a:t>
            </a:r>
            <a:r>
              <a:rPr lang="ko-KR" altLang="en-US" sz="1400" dirty="0" err="1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유문식</a:t>
            </a:r>
            <a:endParaRPr lang="en-US" altLang="ko-KR" sz="1400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6122C82B-E8C1-46E5-17E9-DEC02AE47F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990973" y="3841075"/>
            <a:ext cx="3917576" cy="2070497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71842339-4710-D097-EF76-4B2BEA9F58ED}"/>
              </a:ext>
            </a:extLst>
          </p:cNvPr>
          <p:cNvSpPr txBox="1"/>
          <p:nvPr/>
        </p:nvSpPr>
        <p:spPr>
          <a:xfrm>
            <a:off x="6498567" y="6125760"/>
            <a:ext cx="3226278" cy="24288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ko-KR" sz="1400" dirty="0">
                <a:solidFill>
                  <a:prstClr val="black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  <a:hlinkClick r:id="rId6"/>
              </a:rPr>
              <a:t>https://github.com/Moong6/RL_Project</a:t>
            </a:r>
            <a:endParaRPr lang="en-US" altLang="ko-KR" sz="1400" dirty="0">
              <a:solidFill>
                <a:prstClr val="black"/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77143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>
            <a:extLst>
              <a:ext uri="{FF2B5EF4-FFF2-40B4-BE49-F238E27FC236}">
                <a16:creationId xmlns:a16="http://schemas.microsoft.com/office/drawing/2014/main" id="{30CD4E9C-8C26-5AF4-5973-BA634A9D07D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alphaModFix amt="48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9882" r="9882"/>
          <a:stretch/>
        </p:blipFill>
        <p:spPr>
          <a:xfrm>
            <a:off x="6793342" y="4087179"/>
            <a:ext cx="3015725" cy="2505075"/>
          </a:xfrm>
          <a:prstGeom prst="rect">
            <a:avLst/>
          </a:prstGeom>
        </p:spPr>
      </p:pic>
      <p:sp>
        <p:nvSpPr>
          <p:cNvPr id="7" name="직사각형 6">
            <a:extLst>
              <a:ext uri="{FF2B5EF4-FFF2-40B4-BE49-F238E27FC236}">
                <a16:creationId xmlns:a16="http://schemas.microsoft.com/office/drawing/2014/main" id="{324DE065-4242-49C8-A1D0-358D30461810}"/>
              </a:ext>
            </a:extLst>
          </p:cNvPr>
          <p:cNvSpPr/>
          <p:nvPr/>
        </p:nvSpPr>
        <p:spPr>
          <a:xfrm>
            <a:off x="0" y="1"/>
            <a:ext cx="9906000" cy="1800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F13C1BA-31AD-4D1E-A0B3-631C9F28548A}"/>
              </a:ext>
            </a:extLst>
          </p:cNvPr>
          <p:cNvSpPr txBox="1"/>
          <p:nvPr/>
        </p:nvSpPr>
        <p:spPr>
          <a:xfrm>
            <a:off x="623766" y="966366"/>
            <a:ext cx="24591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dist" defTabSz="457200" latinLnBrk="0"/>
            <a:r>
              <a:rPr lang="ko-KR" altLang="en-US" sz="2400" b="1" dirty="0">
                <a:ln w="3175">
                  <a:noFill/>
                </a:ln>
                <a:solidFill>
                  <a:schemeClr val="accent4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목 차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555E74-6D2D-47F8-89FF-4DA9E532F511}"/>
              </a:ext>
            </a:extLst>
          </p:cNvPr>
          <p:cNvSpPr txBox="1"/>
          <p:nvPr/>
        </p:nvSpPr>
        <p:spPr>
          <a:xfrm>
            <a:off x="637973" y="632060"/>
            <a:ext cx="243973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>
                <a:latin typeface="Noto Sans CJK KR Thin" panose="020B0200000000000000" pitchFamily="34" charset="-127"/>
                <a:ea typeface="Noto Sans CJK KR Thin" panose="020B0200000000000000" pitchFamily="34" charset="-127"/>
              </a:defRPr>
            </a:lvl1pPr>
          </a:lstStyle>
          <a:p>
            <a:pPr algn="dist" defTabSz="457200" latinLnBrk="0"/>
            <a:r>
              <a:rPr lang="en-US" altLang="ko-KR" spc="272" dirty="0">
                <a:ln w="3175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CONTENTS</a:t>
            </a:r>
            <a:endParaRPr lang="ko-KR" altLang="en-US" spc="272" dirty="0">
              <a:ln w="3175">
                <a:noFill/>
              </a:ln>
              <a:gradFill>
                <a:gsLst>
                  <a:gs pos="0">
                    <a:schemeClr val="bg1"/>
                  </a:gs>
                  <a:gs pos="100000">
                    <a:schemeClr val="bg1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A6CFEDAB-829F-42C3-B1CF-01A7EFA38207}"/>
              </a:ext>
            </a:extLst>
          </p:cNvPr>
          <p:cNvSpPr/>
          <p:nvPr/>
        </p:nvSpPr>
        <p:spPr>
          <a:xfrm>
            <a:off x="0" y="1713995"/>
            <a:ext cx="9906000" cy="86006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500" b="0" i="0" u="none" strike="noStrike" kern="0" cap="none" spc="0" normalizeH="0" baseline="0" noProof="0" dirty="0"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graphicFrame>
        <p:nvGraphicFramePr>
          <p:cNvPr id="19" name="표 1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702919"/>
              </p:ext>
            </p:extLst>
          </p:nvPr>
        </p:nvGraphicFramePr>
        <p:xfrm>
          <a:off x="4866676" y="2021372"/>
          <a:ext cx="4609834" cy="388337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53252">
                  <a:extLst>
                    <a:ext uri="{9D8B030D-6E8A-4147-A177-3AD203B41FA5}">
                      <a16:colId xmlns:a16="http://schemas.microsoft.com/office/drawing/2014/main" val="3050542484"/>
                    </a:ext>
                  </a:extLst>
                </a:gridCol>
                <a:gridCol w="266723">
                  <a:extLst>
                    <a:ext uri="{9D8B030D-6E8A-4147-A177-3AD203B41FA5}">
                      <a16:colId xmlns:a16="http://schemas.microsoft.com/office/drawing/2014/main" val="1858931786"/>
                    </a:ext>
                  </a:extLst>
                </a:gridCol>
                <a:gridCol w="2137146">
                  <a:extLst>
                    <a:ext uri="{9D8B030D-6E8A-4147-A177-3AD203B41FA5}">
                      <a16:colId xmlns:a16="http://schemas.microsoft.com/office/drawing/2014/main" val="661818988"/>
                    </a:ext>
                  </a:extLst>
                </a:gridCol>
                <a:gridCol w="1315220">
                  <a:extLst>
                    <a:ext uri="{9D8B030D-6E8A-4147-A177-3AD203B41FA5}">
                      <a16:colId xmlns:a16="http://schemas.microsoft.com/office/drawing/2014/main" val="590516169"/>
                    </a:ext>
                  </a:extLst>
                </a:gridCol>
                <a:gridCol w="437493">
                  <a:extLst>
                    <a:ext uri="{9D8B030D-6E8A-4147-A177-3AD203B41FA5}">
                      <a16:colId xmlns:a16="http://schemas.microsoft.com/office/drawing/2014/main" val="221005851"/>
                    </a:ext>
                  </a:extLst>
                </a:gridCol>
              </a:tblGrid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Ⅳ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결론 </a:t>
                      </a:r>
                      <a:r>
                        <a:rPr lang="en-US" altLang="ko-KR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(Conclusion)</a:t>
                      </a: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3955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프로젝트 요약 및 시사점</a:t>
                      </a: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13</a:t>
                      </a:r>
                      <a:endParaRPr lang="ko-KR" altLang="en-US" sz="1300" b="0" spc="-8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189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6858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향후 과제</a:t>
                      </a: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14</a:t>
                      </a:r>
                      <a:endParaRPr lang="ko-KR" altLang="en-US" sz="1300" b="0" spc="-8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93661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738449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000162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ko-KR" altLang="en-US" sz="1300" kern="1200" spc="-8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40099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461450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429988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61500046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2925869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marR="0" indent="0" algn="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85695108"/>
                  </a:ext>
                </a:extLst>
              </a:tr>
            </a:tbl>
          </a:graphicData>
        </a:graphic>
      </p:graphicFrame>
      <p:graphicFrame>
        <p:nvGraphicFramePr>
          <p:cNvPr id="20" name="표 1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21493081"/>
              </p:ext>
            </p:extLst>
          </p:nvPr>
        </p:nvGraphicFramePr>
        <p:xfrm>
          <a:off x="439105" y="2021372"/>
          <a:ext cx="4115565" cy="496307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04653">
                  <a:extLst>
                    <a:ext uri="{9D8B030D-6E8A-4147-A177-3AD203B41FA5}">
                      <a16:colId xmlns:a16="http://schemas.microsoft.com/office/drawing/2014/main" val="3050542484"/>
                    </a:ext>
                  </a:extLst>
                </a:gridCol>
                <a:gridCol w="238124">
                  <a:extLst>
                    <a:ext uri="{9D8B030D-6E8A-4147-A177-3AD203B41FA5}">
                      <a16:colId xmlns:a16="http://schemas.microsoft.com/office/drawing/2014/main" val="1858931786"/>
                    </a:ext>
                  </a:extLst>
                </a:gridCol>
                <a:gridCol w="1907999">
                  <a:extLst>
                    <a:ext uri="{9D8B030D-6E8A-4147-A177-3AD203B41FA5}">
                      <a16:colId xmlns:a16="http://schemas.microsoft.com/office/drawing/2014/main" val="661818988"/>
                    </a:ext>
                  </a:extLst>
                </a:gridCol>
                <a:gridCol w="1174202">
                  <a:extLst>
                    <a:ext uri="{9D8B030D-6E8A-4147-A177-3AD203B41FA5}">
                      <a16:colId xmlns:a16="http://schemas.microsoft.com/office/drawing/2014/main" val="590516169"/>
                    </a:ext>
                  </a:extLst>
                </a:gridCol>
                <a:gridCol w="390587">
                  <a:extLst>
                    <a:ext uri="{9D8B030D-6E8A-4147-A177-3AD203B41FA5}">
                      <a16:colId xmlns:a16="http://schemas.microsoft.com/office/drawing/2014/main" val="221005851"/>
                    </a:ext>
                  </a:extLst>
                </a:gridCol>
              </a:tblGrid>
              <a:tr h="364471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Ⅰ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서 론 </a:t>
                      </a:r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(Introduction)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1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0248796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프로젝트 주제 및 목표배경 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…………………</a:t>
                      </a:r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3</a:t>
                      </a:r>
                      <a:endParaRPr lang="ko-KR" altLang="en-US" sz="1300" b="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443955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팀원 소개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300" b="0" spc="-8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</a:rPr>
                        <a:t>5</a:t>
                      </a:r>
                      <a:endParaRPr lang="ko-KR" altLang="en-US" sz="1300" b="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40189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Ⅱ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방법론 </a:t>
                      </a:r>
                      <a:r>
                        <a:rPr lang="en-US" altLang="ko-KR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(Methodology)</a:t>
                      </a:r>
                      <a:endParaRPr lang="ko-KR" altLang="en-US" sz="1300" b="1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300" b="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82953" marR="82953" marT="41476" marB="41476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5386509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환경 및 데이터셋 설계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6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24738449"/>
                  </a:ext>
                </a:extLst>
              </a:tr>
              <a:tr h="362192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MDP </a:t>
                      </a: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정의</a:t>
                      </a:r>
                      <a:endParaRPr lang="en-US" altLang="ko-KR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300" kern="1200" spc="-80" baseline="0" dirty="0"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7</a:t>
                      </a:r>
                      <a:endParaRPr lang="ko-KR" altLang="en-US" sz="1300" kern="1200" spc="-80" baseline="0" dirty="0"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7840099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알고리즘 및 네트워크 구조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8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7461450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r>
                        <a:rPr lang="en-US" altLang="ko-KR" sz="1300" b="1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</a:rPr>
                        <a:t>Ⅲ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en-US" altLang="ko-KR" sz="1300" b="1" kern="1200" spc="-80" baseline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.</a:t>
                      </a:r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1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Bold" panose="00000800000000000000" pitchFamily="2" charset="-127"/>
                          <a:ea typeface="KoPub돋움체 Bold" panose="00000800000000000000" pitchFamily="2" charset="-127"/>
                          <a:cs typeface="+mn-cs"/>
                        </a:rPr>
                        <a:t>실험 및 결과 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02429988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가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실험 셋업 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(Setup &amp; Metrics)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9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256558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1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Bold" panose="00000800000000000000" pitchFamily="2" charset="-127"/>
                        <a:ea typeface="KoPub돋움체 Bold" panose="000008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나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최적화 및 </a:t>
                      </a:r>
                      <a:r>
                        <a:rPr lang="ko-KR" altLang="en-US" sz="1300" b="0" kern="1200" spc="-80" baseline="0" dirty="0" err="1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하이퍼파라미터</a:t>
                      </a: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튜닝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10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8472682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다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학습 성능 분석</a:t>
                      </a:r>
                      <a:endParaRPr lang="ko-KR" altLang="en-US" sz="1300" b="0" kern="1200" spc="-8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11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703137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marL="0" algn="r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라</a:t>
                      </a:r>
                      <a:r>
                        <a:rPr lang="en-US" altLang="ko-KR" sz="1300" b="0" kern="1200" spc="-80" baseline="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r>
                        <a:rPr lang="ko-KR" altLang="en-US" sz="1300" b="0" kern="1200" spc="-80" dirty="0"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에이전트 행동 분석</a:t>
                      </a: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gradFill>
                            <a:gsLst>
                              <a:gs pos="0">
                                <a:schemeClr val="tx1"/>
                              </a:gs>
                              <a:gs pos="100000">
                                <a:schemeClr val="tx1"/>
                              </a:gs>
                            </a:gsLst>
                            <a:lin ang="5400000" scaled="0"/>
                          </a:gra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…………………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-80" normalizeH="0" baseline="0" noProof="0" dirty="0">
                          <a:ln>
                            <a:noFill/>
                          </a:ln>
                          <a:solidFill>
                            <a:schemeClr val="tx1">
                              <a:lumMod val="85000"/>
                              <a:lumOff val="15000"/>
                            </a:schemeClr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12</a:t>
                      </a: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723164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b="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3157175"/>
                  </a:ext>
                </a:extLst>
              </a:tr>
              <a:tr h="353034">
                <a:tc>
                  <a:txBody>
                    <a:bodyPr/>
                    <a:lstStyle/>
                    <a:p>
                      <a:pPr algn="r" latinLnBrk="1"/>
                      <a:endParaRPr lang="ko-KR" altLang="en-US" sz="13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algn="l" defTabSz="914400" rtl="0" eaLnBrk="1" latinLnBrk="1" hangingPunct="1"/>
                      <a:endParaRPr lang="ko-KR" altLang="en-US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300" b="0" kern="1200" spc="-80" baseline="0" dirty="0"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gradFill>
                          <a:gsLst>
                            <a:gs pos="0">
                              <a:schemeClr val="tx1"/>
                            </a:gs>
                            <a:gs pos="100000">
                              <a:schemeClr val="tx1"/>
                            </a:gs>
                          </a:gsLst>
                          <a:lin ang="5400000" scaled="0"/>
                        </a:gra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300" b="0" i="0" u="none" strike="noStrike" kern="1200" cap="none" spc="-80" normalizeH="0" baseline="0" noProof="0" dirty="0">
                        <a:ln>
                          <a:noFill/>
                        </a:ln>
                        <a:solidFill>
                          <a:schemeClr val="tx1">
                            <a:lumMod val="85000"/>
                            <a:lumOff val="15000"/>
                          </a:schemeClr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marL="0" marR="0"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31710277"/>
                  </a:ext>
                </a:extLst>
              </a:tr>
            </a:tbl>
          </a:graphicData>
        </a:graphic>
      </p:graphicFrame>
      <p:pic>
        <p:nvPicPr>
          <p:cNvPr id="4" name="Picture 2">
            <a:hlinkClick r:id="rId3"/>
            <a:extLst>
              <a:ext uri="{FF2B5EF4-FFF2-40B4-BE49-F238E27FC236}">
                <a16:creationId xmlns:a16="http://schemas.microsoft.com/office/drawing/2014/main" id="{4EA77788-72A7-5F40-A939-D56512A45B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589575" y="6409058"/>
            <a:ext cx="2219492" cy="3663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906991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5A454B-2498-12D2-4DF1-390AFCD2A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>
            <a:extLst>
              <a:ext uri="{FF2B5EF4-FFF2-40B4-BE49-F238E27FC236}">
                <a16:creationId xmlns:a16="http://schemas.microsoft.com/office/drawing/2014/main" id="{72B68CD8-FD07-06BC-B093-7A56A9E63109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프로젝트 주제 및 목표배경</a:t>
            </a:r>
          </a:p>
        </p:txBody>
      </p:sp>
      <p:graphicFrame>
        <p:nvGraphicFramePr>
          <p:cNvPr id="4" name="표 3">
            <a:extLst>
              <a:ext uri="{FF2B5EF4-FFF2-40B4-BE49-F238E27FC236}">
                <a16:creationId xmlns:a16="http://schemas.microsoft.com/office/drawing/2014/main" id="{38BA8D22-6E13-EE81-9416-0B113A1078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27484958"/>
              </p:ext>
            </p:extLst>
          </p:nvPr>
        </p:nvGraphicFramePr>
        <p:xfrm>
          <a:off x="444262" y="1199500"/>
          <a:ext cx="9017475" cy="476433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31193">
                  <a:extLst>
                    <a:ext uri="{9D8B030D-6E8A-4147-A177-3AD203B41FA5}">
                      <a16:colId xmlns:a16="http://schemas.microsoft.com/office/drawing/2014/main" val="3358151685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6357630"/>
                    </a:ext>
                  </a:extLst>
                </a:gridCol>
                <a:gridCol w="2252587">
                  <a:extLst>
                    <a:ext uri="{9D8B030D-6E8A-4147-A177-3AD203B41FA5}">
                      <a16:colId xmlns:a16="http://schemas.microsoft.com/office/drawing/2014/main" val="2161252775"/>
                    </a:ext>
                  </a:extLst>
                </a:gridCol>
                <a:gridCol w="5225415">
                  <a:extLst>
                    <a:ext uri="{9D8B030D-6E8A-4147-A177-3AD203B41FA5}">
                      <a16:colId xmlns:a16="http://schemas.microsoft.com/office/drawing/2014/main" val="183468347"/>
                    </a:ext>
                  </a:extLst>
                </a:gridCol>
              </a:tblGrid>
              <a:tr h="3438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연구 배경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홈쇼핑 현업 근무 경험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을 통해 급격한 수요 변동에 따른 재고 관리의 구조적 한계를 인식함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b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</a:b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재고 과다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유지비 증가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와 재고 부족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매출 손실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사이의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트레이드오프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(Trade-off)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해결 필요성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증대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b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</a:b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 경험 의존적 방식에서 벗어나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 기반의 자동화된 의사결정 시스템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필요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29709012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182563" indent="-182563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65724543"/>
                  </a:ext>
                </a:extLst>
              </a:tr>
              <a:tr h="34329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연구 목적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Double DQN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을 활용하여 과대평가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(Overestimation)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를 방지하고 불확실한 수요 환경에서도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총 운영 비용</a:t>
                      </a:r>
                      <a:r>
                        <a:rPr kumimoji="0" lang="en-US" altLang="ko-KR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(Total Cost)</a:t>
                      </a: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을 최소화하는 적응형 재고 관리 에이전트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를 구현하고자 함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.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64094154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2563" indent="-182563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374581575"/>
                  </a:ext>
                </a:extLst>
              </a:tr>
              <a:tr h="712478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chemeClr val="tx1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연구 범위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Gymnasium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기반의 가상 물류 환경 구축 및 최적화 알고리즘 적용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데이터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1300" b="0" i="0" u="none" strike="noStrike" kern="1200" cap="none" spc="0" normalizeH="0" baseline="0" noProof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포아송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분포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를 활용한 확률적 수요 및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주말 계절성 및 장기 추세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(Trend)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반영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알고리즘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학습 안정성을 높인 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Double DQN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및 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Experience Replay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적용</a:t>
                      </a:r>
                      <a:endParaRPr kumimoji="0" lang="en-US" altLang="ko-KR" sz="13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  <a:defRPr/>
                      </a:pP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-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제약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: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무작위 리드타임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입고 지연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0" lang="en-US" altLang="ko-KR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3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및 창고 용량 제약 반영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7339638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algn="ctr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gridSpan="2">
                  <a:txBody>
                    <a:bodyPr/>
                    <a:lstStyle/>
                    <a:p>
                      <a:pPr marL="182563" indent="-182563" latinLnBrk="1">
                        <a:buFont typeface="Arial" panose="020B0604020202020204" pitchFamily="34" charset="0"/>
                        <a:buChar char="•"/>
                      </a:pPr>
                      <a:endParaRPr lang="en-US" altLang="ko-KR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89433639"/>
                  </a:ext>
                </a:extLst>
              </a:tr>
              <a:tr h="137365">
                <a:tc>
                  <a:txBody>
                    <a:bodyPr/>
                    <a:lstStyle/>
                    <a:p>
                      <a:pPr marL="182563" indent="-18256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182563" indent="-182563" algn="l" defTabSz="914400" rtl="0" eaLnBrk="1" latinLnBrk="1" hangingPunct="1">
                        <a:buFont typeface="Arial" panose="020B0604020202020204" pitchFamily="34" charset="0"/>
                        <a:buChar char="•"/>
                      </a:pPr>
                      <a:endParaRPr lang="ko-KR" altLang="en-US" sz="10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marL="182563" indent="-182563" algn="l" defTabSz="914400" rtl="0" eaLnBrk="1" latinLnBrk="1" hangingPunct="1">
                        <a:lnSpc>
                          <a:spcPct val="110000"/>
                        </a:lnSpc>
                        <a:buFont typeface="Arial" panose="020B0604020202020204" pitchFamily="34" charset="0"/>
                        <a:buChar char="•"/>
                      </a:pPr>
                      <a:endParaRPr lang="en-US" altLang="ko-KR" sz="100" kern="1200" dirty="0">
                        <a:solidFill>
                          <a:schemeClr val="tx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22700418"/>
                  </a:ext>
                </a:extLst>
              </a:tr>
              <a:tr h="517159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13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추진 방향</a:t>
                      </a: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FFC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① </a:t>
                      </a:r>
                      <a:r>
                        <a:rPr lang="en-US" altLang="ko-KR" sz="1300" b="1" kern="1200" dirty="0">
                          <a:solidFill>
                            <a:srgbClr val="FFC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MDP Modeling</a:t>
                      </a:r>
                      <a:endParaRPr lang="ko-KR" altLang="en-US" sz="1300" b="1" kern="1200" dirty="0">
                        <a:solidFill>
                          <a:srgbClr val="FFC00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9388" marR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재고 및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파이프라인</a:t>
                      </a:r>
                      <a:r>
                        <a:rPr kumimoji="0" lang="en-US" altLang="ko-KR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(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입고 예정</a:t>
                      </a:r>
                      <a:r>
                        <a:rPr kumimoji="0" lang="en-US" altLang="ko-KR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)</a:t>
                      </a:r>
                      <a:r>
                        <a:rPr kumimoji="0" lang="en-US" altLang="ko-KR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정보를 포함한 상태 정의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79388" marR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고정 주문비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와 품절 </a:t>
                      </a:r>
                      <a:r>
                        <a:rPr kumimoji="0" lang="ko-KR" altLang="en-US" sz="13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패널티를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반영한 최적 보상 함수 설계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78126132"/>
                  </a:ext>
                </a:extLst>
              </a:tr>
              <a:tr h="489157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300" kern="1200" dirty="0">
                        <a:solidFill>
                          <a:schemeClr val="bg1"/>
                        </a:solidFill>
                        <a:latin typeface="KoPub돋움체_Pro Bold" panose="00000800000000000000" pitchFamily="50" charset="-127"/>
                        <a:ea typeface="KoPub돋움체_Pro Bold" panose="000008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9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_Pro Medium" panose="00000600000000000000" pitchFamily="50" charset="-127"/>
                        <a:ea typeface="KoPub돋움체_Pro Medium" panose="000006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57508159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en-US" altLang="ko-KR" sz="100" kern="1200" dirty="0">
                        <a:solidFill>
                          <a:schemeClr val="bg1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endParaRPr kumimoji="0" lang="en-US" altLang="ko-KR" sz="1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prstClr val="black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9647196"/>
                  </a:ext>
                </a:extLst>
              </a:tr>
              <a:tr h="517159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300" b="1" kern="1200" dirty="0">
                          <a:solidFill>
                            <a:srgbClr val="FFC000"/>
                          </a:solidFill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② 시뮬레이션 및 성능 평가</a:t>
                      </a:r>
                      <a:endParaRPr lang="en-US" altLang="ko-KR" sz="1300" b="1" kern="1200" dirty="0">
                        <a:solidFill>
                          <a:srgbClr val="FFC000"/>
                        </a:solidFill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3F50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기존 재고 관리 기법 대비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비용 절감 효과 정량적 비교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  <a:p>
                      <a:pPr marL="179388" marR="0" lvl="0" indent="-179388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200"/>
                        </a:spcBef>
                        <a:spcAft>
                          <a:spcPts val="20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패턴 시각화를 통해 </a:t>
                      </a:r>
                      <a:r>
                        <a:rPr kumimoji="0" lang="ko-KR" altLang="en-US" sz="1300" b="0" i="0" u="none" strike="noStrike" kern="1200" cap="none" spc="0" normalizeH="0" baseline="0" dirty="0" err="1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선제적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 대량 주문 </a:t>
                      </a:r>
                      <a:r>
                        <a:rPr kumimoji="0" lang="ko-KR" altLang="en-US" sz="1300" b="0" i="0" u="none" strike="noStrike" kern="1200" cap="none" spc="0" normalizeH="0" baseline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KoPub돋움체 Medium" panose="00000600000000000000" pitchFamily="2" charset="-127"/>
                          <a:ea typeface="KoPub돋움체 Medium" panose="00000600000000000000" pitchFamily="2" charset="-127"/>
                          <a:cs typeface="+mn-cs"/>
                        </a:rPr>
                        <a:t>등 학습된 전략의 유효성 검증</a:t>
                      </a: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868532"/>
                  </a:ext>
                </a:extLst>
              </a:tr>
              <a:tr h="517159"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400" dirty="0">
                        <a:latin typeface="+mj-ea"/>
                        <a:ea typeface="+mj-ea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l" latinLnBrk="1"/>
                      <a:endParaRPr lang="ko-KR" altLang="en-US" sz="100" dirty="0">
                        <a:latin typeface="KoPub돋움체 Medium" panose="00000600000000000000" pitchFamily="2" charset="-127"/>
                        <a:ea typeface="KoPub돋움체 Medium" panose="00000600000000000000" pitchFamily="2" charset="-127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 vMerge="1">
                  <a:txBody>
                    <a:bodyPr/>
                    <a:lstStyle/>
                    <a:p>
                      <a:pPr algn="l" latinLnBrk="1"/>
                      <a:endParaRPr lang="ko-KR" altLang="en-US" sz="1300" kern="1200" dirty="0">
                        <a:solidFill>
                          <a:schemeClr val="bg1"/>
                        </a:solidFill>
                        <a:latin typeface="KoPub돋움체_Pro Bold" panose="00000800000000000000" pitchFamily="50" charset="-127"/>
                        <a:ea typeface="KoPub돋움체_Pro Bold" panose="00000800000000000000" pitchFamily="50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699"/>
                    </a:solidFill>
                  </a:tcPr>
                </a:tc>
                <a:tc vMerge="1">
                  <a:txBody>
                    <a:bodyPr/>
                    <a:lstStyle/>
                    <a:p>
                      <a:pPr marL="0" indent="0" latinLnBrk="1">
                        <a:spcBef>
                          <a:spcPts val="200"/>
                        </a:spcBef>
                        <a:spcAft>
                          <a:spcPts val="200"/>
                        </a:spcAft>
                        <a:buFont typeface="Arial" panose="020B0604020202020204" pitchFamily="34" charset="0"/>
                        <a:buNone/>
                      </a:pPr>
                      <a:endParaRPr kumimoji="0" lang="en-US" altLang="ko-KR" sz="1300" b="0" i="0" u="none" strike="noStrike" kern="1200" cap="none" spc="0" normalizeH="0" baseline="0" dirty="0">
                        <a:ln>
                          <a:noFill/>
                        </a:ln>
                        <a:solidFill>
                          <a:srgbClr val="0070C0"/>
                        </a:solidFill>
                        <a:effectLst/>
                        <a:uLnTx/>
                        <a:uFillTx/>
                        <a:latin typeface="KoPub돋움체 Medium" panose="00000600000000000000" pitchFamily="2" charset="-127"/>
                        <a:ea typeface="KoPub돋움체 Medium" panose="00000600000000000000" pitchFamily="2" charset="-127"/>
                        <a:cs typeface="+mn-cs"/>
                      </a:endParaRPr>
                    </a:p>
                  </a:txBody>
                  <a:tcPr anchor="ctr">
                    <a:lnL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0109610"/>
                  </a:ext>
                </a:extLst>
              </a:tr>
            </a:tbl>
          </a:graphicData>
        </a:graphic>
      </p:graphicFrame>
      <p:pic>
        <p:nvPicPr>
          <p:cNvPr id="16" name="그림 15">
            <a:extLst>
              <a:ext uri="{FF2B5EF4-FFF2-40B4-BE49-F238E27FC236}">
                <a16:creationId xmlns:a16="http://schemas.microsoft.com/office/drawing/2014/main" id="{5520F142-2651-9D5F-2ECD-8D920364803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rgbClr val="F6688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90051" y="2476966"/>
            <a:ext cx="4319714" cy="957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5619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F974C2-EFA7-C239-E82B-63F60C2C1A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3675F097-6458-65F5-7CF2-4741BCE00E9C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Ⅰ. </a:t>
            </a:r>
            <a:r>
              <a:rPr lang="ko-KR" altLang="en-US" b="0" i="0" u="none" strike="noStrike" kern="1200" baseline="0" dirty="0">
                <a:solidFill>
                  <a:srgbClr val="FFFFFF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프로젝트 주제 및 목표배경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sp>
        <p:nvSpPr>
          <p:cNvPr id="3" name="직사각형 2">
            <a:extLst>
              <a:ext uri="{FF2B5EF4-FFF2-40B4-BE49-F238E27FC236}">
                <a16:creationId xmlns:a16="http://schemas.microsoft.com/office/drawing/2014/main" id="{D8C9CA0E-2F97-DEAE-66FD-7C2FC285C311}"/>
              </a:ext>
            </a:extLst>
          </p:cNvPr>
          <p:cNvSpPr/>
          <p:nvPr/>
        </p:nvSpPr>
        <p:spPr>
          <a:xfrm>
            <a:off x="0" y="1449388"/>
            <a:ext cx="9906000" cy="788185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11516" algn="ctr"/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 물류의 영원한 숙제는 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'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균형 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'  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재고 과다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(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비용↑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) vs 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재고 부족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(</a:t>
            </a:r>
            <a:r>
              <a:rPr lang="ko-KR" altLang="en-US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신뢰↓</a:t>
            </a:r>
            <a:r>
              <a:rPr lang="en-US" altLang="ko-KR" sz="1900" spc="-9" dirty="0">
                <a:solidFill>
                  <a:srgbClr val="262626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  <a:cs typeface="바탕"/>
              </a:rPr>
              <a:t>)</a:t>
            </a:r>
            <a:endParaRPr lang="ko-KR" altLang="en-US" sz="1900" dirty="0">
              <a:solidFill>
                <a:srgbClr val="262626"/>
              </a:solidFill>
              <a:latin typeface="KoPub바탕체 Bold" panose="00000800000000000000" pitchFamily="2" charset="-127"/>
              <a:ea typeface="KoPub바탕체 Bold" panose="00000800000000000000" pitchFamily="2" charset="-127"/>
              <a:cs typeface="바탕"/>
            </a:endParaRPr>
          </a:p>
        </p:txBody>
      </p:sp>
      <p:grpSp>
        <p:nvGrpSpPr>
          <p:cNvPr id="5" name="그룹 4">
            <a:extLst>
              <a:ext uri="{FF2B5EF4-FFF2-40B4-BE49-F238E27FC236}">
                <a16:creationId xmlns:a16="http://schemas.microsoft.com/office/drawing/2014/main" id="{FD58A4B4-BB45-A8BB-C04D-B268B6811EA3}"/>
              </a:ext>
            </a:extLst>
          </p:cNvPr>
          <p:cNvGrpSpPr/>
          <p:nvPr/>
        </p:nvGrpSpPr>
        <p:grpSpPr>
          <a:xfrm>
            <a:off x="317134" y="1036639"/>
            <a:ext cx="1514953" cy="338554"/>
            <a:chOff x="261714" y="1043782"/>
            <a:chExt cx="1514953" cy="338554"/>
          </a:xfrm>
        </p:grpSpPr>
        <p:cxnSp>
          <p:nvCxnSpPr>
            <p:cNvPr id="6" name="직선 연결선 5">
              <a:extLst>
                <a:ext uri="{FF2B5EF4-FFF2-40B4-BE49-F238E27FC236}">
                  <a16:creationId xmlns:a16="http://schemas.microsoft.com/office/drawing/2014/main" id="{1DA5E227-57F3-9438-DF31-B52780BC4ECB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64AD78F6-964A-6EEC-BC96-64632FA06159}"/>
                </a:ext>
              </a:extLst>
            </p:cNvPr>
            <p:cNvSpPr txBox="1"/>
            <p:nvPr/>
          </p:nvSpPr>
          <p:spPr>
            <a:xfrm>
              <a:off x="308958" y="1043782"/>
              <a:ext cx="146770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ko-KR" altLang="en-US" sz="16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재고 관리의 이해</a:t>
              </a:r>
            </a:p>
          </p:txBody>
        </p:sp>
      </p:grpSp>
      <p:pic>
        <p:nvPicPr>
          <p:cNvPr id="17" name="그림 16">
            <a:extLst>
              <a:ext uri="{FF2B5EF4-FFF2-40B4-BE49-F238E27FC236}">
                <a16:creationId xmlns:a16="http://schemas.microsoft.com/office/drawing/2014/main" id="{4142FD91-7CFA-73ED-5602-821BD27A467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duotone>
              <a:srgbClr val="F66880">
                <a:shade val="45000"/>
                <a:satMod val="135000"/>
              </a:srgb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1106" y="2080948"/>
            <a:ext cx="3819506" cy="79461"/>
          </a:xfrm>
          <a:prstGeom prst="rect">
            <a:avLst/>
          </a:prstGeom>
        </p:spPr>
      </p:pic>
      <p:sp>
        <p:nvSpPr>
          <p:cNvPr id="38" name="직사각형 37">
            <a:extLst>
              <a:ext uri="{FF2B5EF4-FFF2-40B4-BE49-F238E27FC236}">
                <a16:creationId xmlns:a16="http://schemas.microsoft.com/office/drawing/2014/main" id="{58475325-4063-1953-E672-283578A00A3E}"/>
              </a:ext>
            </a:extLst>
          </p:cNvPr>
          <p:cNvSpPr/>
          <p:nvPr/>
        </p:nvSpPr>
        <p:spPr>
          <a:xfrm>
            <a:off x="5054169" y="2570293"/>
            <a:ext cx="4576757" cy="3624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JBold" panose="02020603020101020101" pitchFamily="18" charset="-127"/>
            </a:endParaRPr>
          </a:p>
        </p:txBody>
      </p: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AB0A4D2C-54BB-C1E0-9026-CE4C19725A44}"/>
              </a:ext>
            </a:extLst>
          </p:cNvPr>
          <p:cNvGrpSpPr/>
          <p:nvPr/>
        </p:nvGrpSpPr>
        <p:grpSpPr>
          <a:xfrm>
            <a:off x="4950976" y="2646662"/>
            <a:ext cx="4011706" cy="604368"/>
            <a:chOff x="237921" y="2151516"/>
            <a:chExt cx="2483307" cy="646082"/>
          </a:xfrm>
        </p:grpSpPr>
        <p:grpSp>
          <p:nvGrpSpPr>
            <p:cNvPr id="40" name="그룹 39">
              <a:extLst>
                <a:ext uri="{FF2B5EF4-FFF2-40B4-BE49-F238E27FC236}">
                  <a16:creationId xmlns:a16="http://schemas.microsoft.com/office/drawing/2014/main" id="{9786599C-0CF8-5D2F-0233-1C77F3AAA433}"/>
                </a:ext>
              </a:extLst>
            </p:cNvPr>
            <p:cNvGrpSpPr/>
            <p:nvPr/>
          </p:nvGrpSpPr>
          <p:grpSpPr>
            <a:xfrm>
              <a:off x="237921" y="2151516"/>
              <a:ext cx="2483307" cy="488333"/>
              <a:chOff x="463419" y="3245017"/>
              <a:chExt cx="2483307" cy="488333"/>
            </a:xfrm>
          </p:grpSpPr>
          <p:grpSp>
            <p:nvGrpSpPr>
              <p:cNvPr id="42" name="그룹 41">
                <a:extLst>
                  <a:ext uri="{FF2B5EF4-FFF2-40B4-BE49-F238E27FC236}">
                    <a16:creationId xmlns:a16="http://schemas.microsoft.com/office/drawing/2014/main" id="{739FB3C1-2AFB-1A28-1CC6-6AD22334CA66}"/>
                  </a:ext>
                </a:extLst>
              </p:cNvPr>
              <p:cNvGrpSpPr/>
              <p:nvPr/>
            </p:nvGrpSpPr>
            <p:grpSpPr>
              <a:xfrm>
                <a:off x="463430" y="3245017"/>
                <a:ext cx="2483296" cy="387796"/>
                <a:chOff x="5595789" y="3715246"/>
                <a:chExt cx="1949307" cy="426576"/>
              </a:xfrm>
              <a:solidFill>
                <a:srgbClr val="0D76C8"/>
              </a:solidFill>
            </p:grpSpPr>
            <p:sp>
              <p:nvSpPr>
                <p:cNvPr id="44" name="타원 43">
                  <a:extLst>
                    <a:ext uri="{FF2B5EF4-FFF2-40B4-BE49-F238E27FC236}">
                      <a16:creationId xmlns:a16="http://schemas.microsoft.com/office/drawing/2014/main" id="{43901443-DBC6-7D14-9184-BACA5501FBC4}"/>
                    </a:ext>
                  </a:extLst>
                </p:cNvPr>
                <p:cNvSpPr/>
                <p:nvPr/>
              </p:nvSpPr>
              <p:spPr>
                <a:xfrm>
                  <a:off x="7241233" y="3715246"/>
                  <a:ext cx="303863" cy="426575"/>
                </a:xfrm>
                <a:prstGeom prst="ellipse">
                  <a:avLst/>
                </a:prstGeom>
                <a:solidFill>
                  <a:srgbClr val="0033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  <p:sp>
              <p:nvSpPr>
                <p:cNvPr id="45" name="직사각형 44">
                  <a:extLst>
                    <a:ext uri="{FF2B5EF4-FFF2-40B4-BE49-F238E27FC236}">
                      <a16:creationId xmlns:a16="http://schemas.microsoft.com/office/drawing/2014/main" id="{4A315FAC-A14B-805A-F587-9D41E2590E2B}"/>
                    </a:ext>
                  </a:extLst>
                </p:cNvPr>
                <p:cNvSpPr/>
                <p:nvPr/>
              </p:nvSpPr>
              <p:spPr>
                <a:xfrm>
                  <a:off x="5595789" y="3715247"/>
                  <a:ext cx="1801049" cy="426575"/>
                </a:xfrm>
                <a:prstGeom prst="rect">
                  <a:avLst/>
                </a:prstGeom>
                <a:solidFill>
                  <a:srgbClr val="003366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marL="0" marR="0" lvl="0" indent="0" algn="ctr" defTabSz="914400" rtl="0" eaLnBrk="1" fontAlgn="auto" latinLnBrk="0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lang="ko-KR" altLang="en-US" sz="1800" b="0" i="0" u="none" strike="noStrike" kern="1200" cap="none" spc="0" normalizeH="0" baseline="0" noProof="0" dirty="0">
                    <a:solidFill>
                      <a:prstClr val="white"/>
                    </a:solidFill>
                    <a:effectLst/>
                    <a:uLnTx/>
                    <a:uFillTx/>
                    <a:latin typeface="KoPub돋움체 Bold" panose="00000800000000000000" pitchFamily="2" charset="-127"/>
                    <a:ea typeface="KoPub돋움체 Bold" panose="00000800000000000000" pitchFamily="2" charset="-127"/>
                    <a:cs typeface="+mn-cs"/>
                  </a:endParaRPr>
                </a:p>
              </p:txBody>
            </p:sp>
          </p:grpSp>
          <p:sp>
            <p:nvSpPr>
              <p:cNvPr id="43" name="직각 삼각형 42">
                <a:extLst>
                  <a:ext uri="{FF2B5EF4-FFF2-40B4-BE49-F238E27FC236}">
                    <a16:creationId xmlns:a16="http://schemas.microsoft.com/office/drawing/2014/main" id="{A7CAFFA6-5D99-9B24-AA41-67EFB5E7C485}"/>
                  </a:ext>
                </a:extLst>
              </p:cNvPr>
              <p:cNvSpPr/>
              <p:nvPr/>
            </p:nvSpPr>
            <p:spPr>
              <a:xfrm flipH="1" flipV="1">
                <a:off x="463419" y="3632811"/>
                <a:ext cx="108152" cy="100539"/>
              </a:xfrm>
              <a:prstGeom prst="rtTriangle">
                <a:avLst/>
              </a:prstGeom>
              <a:solidFill>
                <a:schemeClr val="tx1">
                  <a:lumMod val="50000"/>
                  <a:lumOff val="5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marL="0" marR="0" lvl="0" indent="0" algn="ctr" defTabSz="914400" rtl="0" eaLnBrk="1" fontAlgn="auto" latinLnBrk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lang="ko-KR" altLang="en-US" sz="1800" b="0" i="0" u="none" strike="noStrike" kern="1200" cap="none" spc="0" normalizeH="0" baseline="0" noProof="0" dirty="0">
                  <a:solidFill>
                    <a:prstClr val="white"/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endParaRPr>
              </a:p>
            </p:txBody>
          </p:sp>
        </p:grpSp>
        <p:sp>
          <p:nvSpPr>
            <p:cNvPr id="41" name="TextBox 40">
              <a:extLst>
                <a:ext uri="{FF2B5EF4-FFF2-40B4-BE49-F238E27FC236}">
                  <a16:creationId xmlns:a16="http://schemas.microsoft.com/office/drawing/2014/main" id="{272BDCAA-6D83-0C77-5135-C7A78EC7761B}"/>
                </a:ext>
              </a:extLst>
            </p:cNvPr>
            <p:cNvSpPr txBox="1"/>
            <p:nvPr/>
          </p:nvSpPr>
          <p:spPr>
            <a:xfrm>
              <a:off x="271225" y="2172461"/>
              <a:ext cx="2342591" cy="62513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R="0" indent="0" algn="ctr" fontAlgn="auto" latinLnBrk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ko-KR" altLang="en-US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불확실한 수요</a:t>
              </a:r>
              <a:r>
                <a:rPr lang="en-US" altLang="ko-KR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, </a:t>
              </a:r>
              <a:r>
                <a:rPr lang="ko-KR" altLang="en-US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왜 기존 방식으로는 안 되는가</a:t>
              </a:r>
              <a:r>
                <a:rPr lang="en-US" altLang="ko-KR" sz="1600" kern="0" spc="-100" dirty="0">
                  <a:ln w="3175">
                    <a:noFill/>
                  </a:ln>
                  <a:gradFill>
                    <a:gsLst>
                      <a:gs pos="0">
                        <a:schemeClr val="bg1"/>
                      </a:gs>
                      <a:gs pos="100000">
                        <a:schemeClr val="bg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??</a:t>
              </a:r>
              <a:endParaRPr lang="ko-KR" altLang="en-US" sz="1600" kern="0" spc="-100" dirty="0">
                <a:ln w="3175">
                  <a:noFill/>
                </a:ln>
                <a:gradFill>
                  <a:gsLst>
                    <a:gs pos="0">
                      <a:schemeClr val="bg1"/>
                    </a:gs>
                    <a:gs pos="100000">
                      <a:schemeClr val="bg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46" name="직사각형 45">
            <a:extLst>
              <a:ext uri="{FF2B5EF4-FFF2-40B4-BE49-F238E27FC236}">
                <a16:creationId xmlns:a16="http://schemas.microsoft.com/office/drawing/2014/main" id="{41159B92-CBB4-AA95-05D5-ACA23F9EA580}"/>
              </a:ext>
            </a:extLst>
          </p:cNvPr>
          <p:cNvSpPr/>
          <p:nvPr/>
        </p:nvSpPr>
        <p:spPr>
          <a:xfrm>
            <a:off x="5128775" y="2959062"/>
            <a:ext cx="4384676" cy="3235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산업적 배경 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(Motivation): 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홈쇼핑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500" b="1" dirty="0" err="1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이커머스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특성상 </a:t>
            </a:r>
            <a:r>
              <a:rPr lang="ko-KR" altLang="en-US" sz="1500" b="1" dirty="0" err="1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트렌드뿐만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아니라 </a:t>
            </a:r>
            <a:r>
              <a:rPr lang="ko-KR" altLang="en-US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요일</a:t>
            </a:r>
            <a:r>
              <a:rPr lang="en-US" altLang="ko-KR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주말</a:t>
            </a:r>
            <a:r>
              <a:rPr lang="en-US" altLang="ko-KR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), </a:t>
            </a:r>
            <a:r>
              <a:rPr lang="ko-KR" altLang="en-US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이벤트에 따른 비선형적 수요 급증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패턴이 존재함</a:t>
            </a: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endParaRPr lang="en-US" altLang="ko-KR" sz="1500" b="1" dirty="0">
              <a:gradFill>
                <a:gsLst>
                  <a:gs pos="0">
                    <a:schemeClr val="tx1"/>
                  </a:gs>
                  <a:gs pos="100000">
                    <a:schemeClr val="tx1"/>
                  </a:gs>
                </a:gsLst>
                <a:lin ang="5400000" scaled="0"/>
              </a:gra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한계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(Limitation): 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기존의 고정 규칙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((s, S) Policy)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은 급변하는 수요와 계절성에 대응하기 어려움</a:t>
            </a: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목표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(Goal): Double DQN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활용하여 비용을 최소화하는 적응형 주문 정책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(Adaptive Policy) 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학습</a:t>
            </a: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2" name="그림 1" descr="텍스트, 스케치, 그림, 광고판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0A3D1548-174B-DE15-5194-AC04526F562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803" y="3009418"/>
            <a:ext cx="4817029" cy="2629608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32997841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>
            <a:extLst>
              <a:ext uri="{FF2B5EF4-FFF2-40B4-BE49-F238E27FC236}">
                <a16:creationId xmlns:a16="http://schemas.microsoft.com/office/drawing/2014/main" id="{B84CA7F1-6BCF-0C2F-42D5-1E61B771A117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Ⅰ.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팀 및 </a:t>
            </a:r>
            <a:r>
              <a:rPr kumimoji="0" lang="ko-KR" altLang="en-US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KoPub바탕체 Bold" panose="00000800000000000000" pitchFamily="2" charset="-127"/>
                <a:ea typeface="KoPub바탕체 Bold" panose="00000800000000000000" pitchFamily="2" charset="-127"/>
                <a:cs typeface="+mn-cs"/>
              </a:rPr>
              <a:t>팀원 소개</a:t>
            </a:r>
          </a:p>
        </p:txBody>
      </p:sp>
      <p:grpSp>
        <p:nvGrpSpPr>
          <p:cNvPr id="10" name="그룹 9">
            <a:extLst>
              <a:ext uri="{FF2B5EF4-FFF2-40B4-BE49-F238E27FC236}">
                <a16:creationId xmlns:a16="http://schemas.microsoft.com/office/drawing/2014/main" id="{DD6453FF-6B6A-DF70-327C-53F043EC7F1E}"/>
              </a:ext>
            </a:extLst>
          </p:cNvPr>
          <p:cNvGrpSpPr/>
          <p:nvPr/>
        </p:nvGrpSpPr>
        <p:grpSpPr>
          <a:xfrm>
            <a:off x="317134" y="1036639"/>
            <a:ext cx="4772448" cy="338554"/>
            <a:chOff x="261714" y="1043782"/>
            <a:chExt cx="4772448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6A34E785-F8FA-DAB5-0C34-3EC920CAC981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36D4E23A-6577-A99A-CCB8-009DCDCBBB04}"/>
                </a:ext>
              </a:extLst>
            </p:cNvPr>
            <p:cNvSpPr txBox="1"/>
            <p:nvPr/>
          </p:nvSpPr>
          <p:spPr>
            <a:xfrm>
              <a:off x="308958" y="1043782"/>
              <a:ext cx="472520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lvl="0">
                <a:defRPr/>
              </a:pPr>
              <a:r>
                <a:rPr lang="ko-KR" altLang="en-US" sz="1600" spc="-8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팀명</a:t>
              </a:r>
              <a:r>
                <a:rPr lang="en-US" altLang="ko-KR" sz="16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: Q-Pang 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(Q-learning + </a:t>
              </a:r>
              <a:r>
                <a:rPr lang="ko-KR" altLang="en-US" sz="1400" spc="-8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쿠팡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</a:t>
              </a:r>
              <a:r>
                <a:rPr lang="ko-KR" altLang="en-US" sz="1400" spc="-80" dirty="0" err="1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이커머스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/</a:t>
              </a:r>
              <a:r>
                <a:rPr lang="ko-KR" altLang="en-US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물류 대표 기업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 </a:t>
              </a:r>
              <a:r>
                <a:rPr lang="ko-KR" altLang="en-US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연상</a:t>
              </a:r>
              <a:r>
                <a:rPr lang="en-US" altLang="ko-KR" sz="1400" spc="-80" dirty="0">
                  <a:gradFill>
                    <a:gsLst>
                      <a:gs pos="0">
                        <a:schemeClr val="tx1"/>
                      </a:gs>
                      <a:gs pos="100000">
                        <a:schemeClr val="tx1"/>
                      </a:gs>
                    </a:gsLst>
                    <a:lin ang="5400000" scaled="0"/>
                  </a:gra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  <a:endParaRPr lang="ko-KR" altLang="en-US" sz="1600" spc="-80" dirty="0">
                <a:gradFill>
                  <a:gsLst>
                    <a:gs pos="0">
                      <a:schemeClr val="tx1"/>
                    </a:gs>
                    <a:gs pos="100000">
                      <a:schemeClr val="tx1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</p:grpSp>
      <p:sp>
        <p:nvSpPr>
          <p:cNvPr id="22" name="Google Shape;532;p49">
            <a:extLst>
              <a:ext uri="{FF2B5EF4-FFF2-40B4-BE49-F238E27FC236}">
                <a16:creationId xmlns:a16="http://schemas.microsoft.com/office/drawing/2014/main" id="{FA2F9FA3-0973-BADA-8A46-3ED0878CF4CB}"/>
              </a:ext>
            </a:extLst>
          </p:cNvPr>
          <p:cNvSpPr txBox="1"/>
          <p:nvPr/>
        </p:nvSpPr>
        <p:spPr>
          <a:xfrm>
            <a:off x="1113237" y="4416819"/>
            <a:ext cx="3779309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spc="-80" dirty="0" err="1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데이터사이언스</a:t>
            </a:r>
            <a:r>
              <a:rPr lang="en-US" altLang="ko-KR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·</a:t>
            </a: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인공지능</a:t>
            </a:r>
            <a:endParaRPr lang="en-US" altLang="ko-KR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어 </a:t>
            </a: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준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성 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(</a:t>
            </a:r>
            <a:r>
              <a:rPr 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A71035)</a:t>
            </a:r>
            <a:endParaRPr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Font typeface="Arial"/>
              <a:buNone/>
            </a:pP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프로젝트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기획 및 환경 모델링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(MDP)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설계</a:t>
            </a:r>
            <a:endParaRPr lang="en-US" altLang="ko-KR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  <p:pic>
        <p:nvPicPr>
          <p:cNvPr id="29" name="그림 28">
            <a:extLst>
              <a:ext uri="{FF2B5EF4-FFF2-40B4-BE49-F238E27FC236}">
                <a16:creationId xmlns:a16="http://schemas.microsoft.com/office/drawing/2014/main" id="{53343F9F-33AE-CA93-44E8-5758E7D6688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1205" y="1539703"/>
            <a:ext cx="2651549" cy="2712605"/>
          </a:xfrm>
          <a:prstGeom prst="rect">
            <a:avLst/>
          </a:prstGeom>
        </p:spPr>
      </p:pic>
      <p:pic>
        <p:nvPicPr>
          <p:cNvPr id="39" name="그림 38">
            <a:extLst>
              <a:ext uri="{FF2B5EF4-FFF2-40B4-BE49-F238E27FC236}">
                <a16:creationId xmlns:a16="http://schemas.microsoft.com/office/drawing/2014/main" id="{F1234DDF-77EF-943D-8997-1CC3FC18EA5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64188" y="1710233"/>
            <a:ext cx="2371546" cy="2371546"/>
          </a:xfrm>
          <a:prstGeom prst="rect">
            <a:avLst/>
          </a:prstGeom>
        </p:spPr>
      </p:pic>
      <p:sp>
        <p:nvSpPr>
          <p:cNvPr id="2" name="Google Shape;532;p49">
            <a:extLst>
              <a:ext uri="{FF2B5EF4-FFF2-40B4-BE49-F238E27FC236}">
                <a16:creationId xmlns:a16="http://schemas.microsoft.com/office/drawing/2014/main" id="{4E439CF7-A7C8-B16D-8145-59532BB5079D}"/>
              </a:ext>
            </a:extLst>
          </p:cNvPr>
          <p:cNvSpPr txBox="1"/>
          <p:nvPr/>
        </p:nvSpPr>
        <p:spPr>
          <a:xfrm>
            <a:off x="5055647" y="4411164"/>
            <a:ext cx="4101605" cy="10771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/>
            <a:r>
              <a:rPr lang="ko-KR" altLang="en-US" sz="1600" spc="-80" dirty="0" err="1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데이터사이언스</a:t>
            </a:r>
            <a:r>
              <a:rPr lang="en-US" altLang="ko-KR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·</a:t>
            </a: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인공지능</a:t>
            </a:r>
          </a:p>
          <a:p>
            <a:pPr algn="ctr"/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유 </a:t>
            </a: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문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식</a:t>
            </a:r>
            <a:r>
              <a:rPr lang="en-US" altLang="ko-KR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 (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  <a:sym typeface="Arial"/>
              </a:rPr>
              <a:t>A72063)</a:t>
            </a:r>
            <a:endParaRPr lang="ko-KR" altLang="en-US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algn="ctr"/>
            <a:endParaRPr lang="ko-KR" altLang="en-US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  <a:sym typeface="Arial"/>
            </a:endParaRPr>
          </a:p>
          <a:p>
            <a:pPr algn="ctr">
              <a:buClr>
                <a:schemeClr val="dk1"/>
              </a:buClr>
            </a:pPr>
            <a:r>
              <a:rPr lang="ko-KR" altLang="en-US" sz="1600" spc="-8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에이전트 구현 </a:t>
            </a:r>
            <a:r>
              <a:rPr lang="ko-KR" altLang="en-US" sz="1600" spc="-8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및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성능 최적화</a:t>
            </a:r>
            <a:r>
              <a:rPr lang="en-US" altLang="ko-KR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, </a:t>
            </a:r>
            <a:r>
              <a:rPr lang="ko-KR" altLang="en-US" sz="1600" spc="-80" smtClean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시뮬레이터 개발</a:t>
            </a:r>
            <a:endParaRPr lang="ko-KR" altLang="en-US" sz="1600" spc="-80" dirty="0">
              <a:gradFill>
                <a:gsLst>
                  <a:gs pos="0">
                    <a:prstClr val="black"/>
                  </a:gs>
                  <a:gs pos="100000">
                    <a:prstClr val="black"/>
                  </a:gs>
                </a:gsLst>
                <a:lin ang="5400000" scaled="0"/>
              </a:gra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4127986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485B81-AA1B-5146-9409-F366CEA009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C4D0C7-7BFD-13E3-1155-B7251661AEC8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환경 및 데이터셋 설명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49C88E70-9A95-CE41-9CD8-0BAF2BD4DAC3}"/>
              </a:ext>
            </a:extLst>
          </p:cNvPr>
          <p:cNvSpPr/>
          <p:nvPr/>
        </p:nvSpPr>
        <p:spPr>
          <a:xfrm>
            <a:off x="0" y="1041214"/>
            <a:ext cx="9906000" cy="841903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cxnSp>
        <p:nvCxnSpPr>
          <p:cNvPr id="9" name="직선 연결선 8">
            <a:extLst>
              <a:ext uri="{FF2B5EF4-FFF2-40B4-BE49-F238E27FC236}">
                <a16:creationId xmlns:a16="http://schemas.microsoft.com/office/drawing/2014/main" id="{0AECB3AF-F430-758F-838B-4596F940ECFD}"/>
              </a:ext>
            </a:extLst>
          </p:cNvPr>
          <p:cNvCxnSpPr>
            <a:cxnSpLocks/>
          </p:cNvCxnSpPr>
          <p:nvPr/>
        </p:nvCxnSpPr>
        <p:spPr>
          <a:xfrm>
            <a:off x="749300" y="1766808"/>
            <a:ext cx="8578850" cy="0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>
            <a:extLst>
              <a:ext uri="{FF2B5EF4-FFF2-40B4-BE49-F238E27FC236}">
                <a16:creationId xmlns:a16="http://schemas.microsoft.com/office/drawing/2014/main" id="{687C4F9B-CA1A-7E79-2FB9-6F3C177432D0}"/>
              </a:ext>
            </a:extLst>
          </p:cNvPr>
          <p:cNvSpPr txBox="1"/>
          <p:nvPr/>
        </p:nvSpPr>
        <p:spPr>
          <a:xfrm>
            <a:off x="566738" y="1292967"/>
            <a:ext cx="9296674" cy="4462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ko-KR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“</a:t>
            </a:r>
            <a:r>
              <a:rPr lang="ko-KR" altLang="en-US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단순한 무작위</a:t>
            </a:r>
            <a:r>
              <a:rPr lang="en-US" altLang="ko-KR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(Random) </a:t>
            </a:r>
            <a:r>
              <a:rPr lang="ko-KR" altLang="en-US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데이터로는                            을 학습할 수 없다</a:t>
            </a:r>
            <a:r>
              <a:rPr lang="en-US" altLang="ko-KR" sz="2300" spc="-70" dirty="0">
                <a:solidFill>
                  <a:schemeClr val="bg1"/>
                </a:solidFill>
                <a:latin typeface="KoPub바탕체 Medium" panose="00000600000000000000" pitchFamily="2" charset="-127"/>
                <a:ea typeface="KoPub바탕체 Medium" panose="00000600000000000000" pitchFamily="2" charset="-127"/>
              </a:rPr>
              <a:t>.”</a:t>
            </a:r>
            <a:endParaRPr lang="ko-KR" altLang="en-US" sz="2300" dirty="0">
              <a:solidFill>
                <a:schemeClr val="bg1"/>
              </a:solidFill>
              <a:latin typeface="KoPub바탕체 Medium" panose="00000600000000000000" pitchFamily="2" charset="-127"/>
              <a:ea typeface="KoPub바탕체 Medium" panose="00000600000000000000" pitchFamily="2" charset="-127"/>
            </a:endParaRPr>
          </a:p>
        </p:txBody>
      </p:sp>
      <p:sp>
        <p:nvSpPr>
          <p:cNvPr id="14" name="모서리가 둥근 직사각형 17">
            <a:extLst>
              <a:ext uri="{FF2B5EF4-FFF2-40B4-BE49-F238E27FC236}">
                <a16:creationId xmlns:a16="http://schemas.microsoft.com/office/drawing/2014/main" id="{3E5F3F2C-5985-3B98-F150-C347D9914CD6}"/>
              </a:ext>
            </a:extLst>
          </p:cNvPr>
          <p:cNvSpPr/>
          <p:nvPr/>
        </p:nvSpPr>
        <p:spPr>
          <a:xfrm>
            <a:off x="5215075" y="1241629"/>
            <a:ext cx="2106146" cy="49761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 w="28575">
            <a:solidFill>
              <a:srgbClr val="00206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2000" dirty="0">
                <a:solidFill>
                  <a:srgbClr val="262626"/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현실의 불확실성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8D29EDED-6830-CE50-907A-01455D8E7EFE}"/>
              </a:ext>
            </a:extLst>
          </p:cNvPr>
          <p:cNvSpPr/>
          <p:nvPr/>
        </p:nvSpPr>
        <p:spPr>
          <a:xfrm>
            <a:off x="640138" y="2302415"/>
            <a:ext cx="4227138" cy="3624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JBold" panose="02020603020101020101" pitchFamily="18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A923509-936B-C9A3-7BB2-989B370EC798}"/>
              </a:ext>
            </a:extLst>
          </p:cNvPr>
          <p:cNvSpPr/>
          <p:nvPr/>
        </p:nvSpPr>
        <p:spPr>
          <a:xfrm>
            <a:off x="728842" y="2496799"/>
            <a:ext cx="4049730" cy="3235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 생성 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(Data Generation)</a:t>
            </a:r>
          </a:p>
          <a:p>
            <a:pPr lvl="0" algn="ctr" latinLnBrk="0">
              <a:lnSpc>
                <a:spcPct val="150000"/>
              </a:lnSpc>
              <a:defRPr/>
            </a:pP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실제 유통 데이터의 통계적 모사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vl="0" algn="ctr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정적 데이터 대신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Poisson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분포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활용하여 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수요의 불확실성 모사</a:t>
            </a:r>
            <a:endParaRPr lang="en-US" altLang="ko-KR" sz="15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60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 주기의 계절성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(Seasonality)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장기적 수요 </a:t>
            </a:r>
            <a:endParaRPr lang="en-US" altLang="ko-KR" sz="15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증가 추세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(Trend)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수식으로 구현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복합적인 패턴이 섞인 고난이도 시뮬레이션 환경 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구축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algn="ctr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2B3D3B3-C4EB-FC77-5087-01CFF4B0A3E8}"/>
              </a:ext>
            </a:extLst>
          </p:cNvPr>
          <p:cNvSpPr/>
          <p:nvPr/>
        </p:nvSpPr>
        <p:spPr>
          <a:xfrm>
            <a:off x="5101012" y="2302415"/>
            <a:ext cx="4227138" cy="362431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0"/>
            <a:endParaRPr lang="ko-KR" altLang="en-US" sz="1600" dirty="0">
              <a:latin typeface="KoPub돋움체 Medium" panose="00000600000000000000" pitchFamily="2" charset="-127"/>
              <a:ea typeface="KoPub돋움체 Medium" panose="00000600000000000000" pitchFamily="2" charset="-127"/>
              <a:cs typeface="JBold" panose="02020603020101020101" pitchFamily="18" charset="-127"/>
            </a:endParaRP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3AA7CE6B-60B1-3411-F9BE-864A0A13A92A}"/>
              </a:ext>
            </a:extLst>
          </p:cNvPr>
          <p:cNvSpPr/>
          <p:nvPr/>
        </p:nvSpPr>
        <p:spPr>
          <a:xfrm>
            <a:off x="5252004" y="2496799"/>
            <a:ext cx="4049730" cy="323554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lvl="0" algn="ctr" latinLnBrk="0">
              <a:lnSpc>
                <a:spcPct val="150000"/>
              </a:lnSpc>
              <a:defRPr/>
            </a:pP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 특징 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(Data Features)</a:t>
            </a:r>
          </a:p>
          <a:p>
            <a:pPr lvl="0" algn="ctr" latinLnBrk="0">
              <a:lnSpc>
                <a:spcPct val="150000"/>
              </a:lnSpc>
              <a:defRPr/>
            </a:pP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계절성 및 주말 패턴 적용</a:t>
            </a:r>
            <a:r>
              <a:rPr lang="en-US" altLang="ko-KR" sz="1500" b="1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vl="0" algn="ctr" latinLnBrk="0">
              <a:lnSpc>
                <a:spcPct val="150000"/>
              </a:lnSpc>
              <a:defRPr/>
            </a:pPr>
            <a:endParaRPr lang="en-US" altLang="ko-KR" sz="1500" b="1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평일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vs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주말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수요 격차를 인위적으로 조성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·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주말</a:t>
            </a: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토</a:t>
            </a: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</a:t>
            </a: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수요가 평일 대비 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1.3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</a:t>
            </a: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(30%)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5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증가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하도록 설계</a:t>
            </a:r>
          </a:p>
          <a:p>
            <a:pPr lvl="0" latinLnBrk="0">
              <a:lnSpc>
                <a:spcPct val="150000"/>
              </a:lnSpc>
              <a:defRPr/>
            </a:pP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에이전트가 요일별 변동성과 시계열 패턴을 </a:t>
            </a:r>
            <a:endParaRPr lang="en-US" altLang="ko-KR" sz="1500" dirty="0">
              <a:solidFill>
                <a:schemeClr val="tx1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lnSpc>
                <a:spcPct val="150000"/>
              </a:lnSpc>
              <a:defRPr/>
            </a:pPr>
            <a:r>
              <a:rPr lang="en-US" altLang="ko-KR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lang="ko-KR" altLang="en-US" sz="1500" dirty="0">
                <a:solidFill>
                  <a:schemeClr val="tx1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스스로 인지하는지 검증</a:t>
            </a:r>
          </a:p>
        </p:txBody>
      </p:sp>
    </p:spTree>
    <p:extLst>
      <p:ext uri="{BB962C8B-B14F-4D97-AF65-F5344CB8AC3E}">
        <p14:creationId xmlns:p14="http://schemas.microsoft.com/office/powerpoint/2010/main" val="26247974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7AE5E-79AF-1553-0515-2B0BE072D5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62B1CCCE-468E-CEA8-1584-FFC523E909C9}"/>
              </a:ext>
            </a:extLst>
          </p:cNvPr>
          <p:cNvGrpSpPr/>
          <p:nvPr/>
        </p:nvGrpSpPr>
        <p:grpSpPr>
          <a:xfrm>
            <a:off x="317134" y="1036639"/>
            <a:ext cx="8130098" cy="338554"/>
            <a:chOff x="261714" y="1043782"/>
            <a:chExt cx="8130098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4F14B3B8-166C-A99D-99BB-898D31F9806C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2E5C047-5102-394A-C254-6840725933A4}"/>
                </a:ext>
              </a:extLst>
            </p:cNvPr>
            <p:cNvSpPr txBox="1"/>
            <p:nvPr/>
          </p:nvSpPr>
          <p:spPr>
            <a:xfrm>
              <a:off x="308958" y="1043782"/>
              <a:ext cx="8082854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강화학습 에이전트가 환경과 상호작용하기 위한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MDP(Markov Decision Process)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를 다음과 같이 정의함</a:t>
              </a: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78E8A31E-A16A-9535-E55B-2B49D304D442}"/>
              </a:ext>
            </a:extLst>
          </p:cNvPr>
          <p:cNvGrpSpPr/>
          <p:nvPr/>
        </p:nvGrpSpPr>
        <p:grpSpPr>
          <a:xfrm>
            <a:off x="304800" y="1519238"/>
            <a:ext cx="9090855" cy="4790751"/>
            <a:chOff x="304800" y="1620838"/>
            <a:chExt cx="9090855" cy="4790751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AC88E08-CF1C-F877-6384-5C1665124C55}"/>
                </a:ext>
              </a:extLst>
            </p:cNvPr>
            <p:cNvSpPr txBox="1"/>
            <p:nvPr/>
          </p:nvSpPr>
          <p:spPr>
            <a:xfrm>
              <a:off x="510344" y="1692348"/>
              <a:ext cx="8885311" cy="471924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State (St): 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에이전트의 의사결정에 필요한 핵심 정보 </a:t>
              </a: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4</a:t>
              </a: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가지</a:t>
              </a:r>
              <a:endPara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Inventory Level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현재 창고 재고량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Previous Demand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전일 수요량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추세 파악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Day of Week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요일 정보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주말 수요 급증 패턴 학습용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Pipeline Inventory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재고뿐만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아니라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리드타임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동안 도착 예정인 물량을 상태에 포함하여 중복 주문 방지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Action (At): </a:t>
              </a:r>
              <a:r>
                <a:rPr lang="ko-KR" altLang="en-US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주문 가능한 수량 </a:t>
              </a: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(Discrete Space)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A: {0, 10,000, 20,000, ..., 100,000} 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대규모 창고 스케일 적용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Reward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(Rt):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비용 최소화를 위한 음의 보상 함수 설계</a:t>
              </a:r>
              <a:endPara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algn="ctr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Rt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=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- (0.5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x Inv + 50 x Stockout + 1000 x </a:t>
              </a:r>
              <a:r>
                <a:rPr lang="en-US" altLang="ko-KR" sz="1500" b="1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FixedCost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+ Purchase)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설계 의도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1. </a:t>
              </a:r>
              <a:r>
                <a:rPr lang="ko-KR" altLang="en-US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품절 </a:t>
              </a:r>
              <a:r>
                <a:rPr lang="ko-KR" altLang="en-US" sz="1500" kern="0" dirty="0" err="1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패널티를</a:t>
              </a:r>
              <a:r>
                <a:rPr lang="ko-KR" altLang="en-US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유지비의 </a:t>
              </a:r>
              <a:r>
                <a:rPr lang="en-US" altLang="ko-KR" sz="1500" kern="0" dirty="0"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100</a:t>
              </a:r>
              <a:r>
                <a:rPr lang="ko-KR" altLang="en-US" sz="1500" kern="0" dirty="0">
                  <a:solidFill>
                    <a:srgbClr val="FF0000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배</a:t>
              </a:r>
              <a:r>
                <a:rPr lang="ko-KR" altLang="en-US" sz="1500" kern="0" dirty="0"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로 설정하여 품절 방지 강화 → 고객 신뢰 최우선</a:t>
              </a:r>
              <a:endParaRPr lang="en-US" altLang="ko-KR" sz="1500" kern="0" dirty="0"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 2.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고정 주문 비용을 반영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하여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매일 조금씩 주문하는 것보다 최적 시점에 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대량 주문</a:t>
              </a:r>
              <a:r>
                <a:rPr kumimoji="0" lang="en-US" altLang="ko-KR" sz="1500" b="0" i="0" u="none" strike="noStrike" kern="0" cap="none" spc="0" normalizeH="0" baseline="0" noProof="0" dirty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(Batch Ordering)</a:t>
              </a:r>
              <a:r>
                <a:rPr kumimoji="0" lang="ko-KR" altLang="en-US" sz="1500" b="0" i="0" u="none" strike="noStrike" kern="0" cap="none" spc="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하도록 유도</a:t>
              </a:r>
              <a:endParaRPr kumimoji="0" lang="en-US" altLang="ko-KR" sz="1400" b="0" i="0" u="none" strike="noStrike" kern="0" cap="none" spc="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B8D413A5-5ECB-8665-08E7-038DB5166163}"/>
                </a:ext>
              </a:extLst>
            </p:cNvPr>
            <p:cNvSpPr txBox="1"/>
            <p:nvPr/>
          </p:nvSpPr>
          <p:spPr>
            <a:xfrm>
              <a:off x="304800" y="1620838"/>
              <a:ext cx="11493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6639C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sym typeface="Wingdings" panose="05000000000000000000" pitchFamily="2" charset="2"/>
                </a:rPr>
                <a:t> </a:t>
              </a:r>
              <a:endParaRPr lang="ko-KR" altLang="en-US" sz="1600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D7F200DC-FE6F-B2B1-171B-E9FD87EEAF35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Ⅱ. MDP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정의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(State, Action, Reward)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2507664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E28ED02-27D5-A86D-D350-1BA20FB964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138F9EC-5A12-CA2C-3526-8AE35A2402F2}"/>
              </a:ext>
            </a:extLst>
          </p:cNvPr>
          <p:cNvGrpSpPr/>
          <p:nvPr/>
        </p:nvGrpSpPr>
        <p:grpSpPr>
          <a:xfrm>
            <a:off x="317134" y="1036639"/>
            <a:ext cx="2532091" cy="338554"/>
            <a:chOff x="261714" y="1043782"/>
            <a:chExt cx="2532091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76ED917-CFDE-DDBB-CF76-594694B02FE6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4A01B924-5E3B-F952-C43F-E6953DF16CB2}"/>
                </a:ext>
              </a:extLst>
            </p:cNvPr>
            <p:cNvSpPr txBox="1"/>
            <p:nvPr/>
          </p:nvSpPr>
          <p:spPr>
            <a:xfrm>
              <a:off x="308958" y="1043782"/>
              <a:ext cx="2484847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알고리즘 및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Hyperparameter</a:t>
              </a:r>
              <a:endParaRPr kumimoji="0" lang="ko-KR" altLang="en-US" sz="1600" b="0" i="0" u="none" strike="noStrike" kern="1200" cap="none" spc="-8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B0E54EE6-854D-9539-CA17-7E25B31D2BA1}"/>
              </a:ext>
            </a:extLst>
          </p:cNvPr>
          <p:cNvSpPr txBox="1"/>
          <p:nvPr/>
        </p:nvSpPr>
        <p:spPr>
          <a:xfrm>
            <a:off x="510344" y="1429720"/>
            <a:ext cx="8885311" cy="5144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Algorithm: Double DQN (DDQN)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일반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DQN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Q-value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과대평가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(Overestimation)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문제를 해결하여 학습 안정성 확보</a:t>
            </a:r>
            <a:endParaRPr lang="en-US" altLang="ko-KR" sz="15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Network: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Input(State Dim)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FC(256)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ReLU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FC(256)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→ 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Output(Action Dim)</a:t>
            </a: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2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Hyperparameters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l-GR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γ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= 0.99 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장기적 시야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), </a:t>
            </a:r>
            <a:r>
              <a:rPr lang="en-US" altLang="ko-KR" sz="15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lr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= 1e-4 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안정적 학습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Replay Buffer: 100,000, Batch Size: 256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Epsilon Decay: 0.9998 (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매우 천천히 탐험을 줄여 충분한 데이터 확보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※ 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핵심 파라미터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품절 비용 등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조정 시</a:t>
            </a:r>
            <a:r>
              <a:rPr lang="en-US" altLang="ko-KR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20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에이전트가 환경 변화를 인지하고 재고 운영 전략을 능동적으로 수정</a:t>
            </a:r>
            <a:endParaRPr lang="en-US" altLang="ko-KR" sz="12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176A583A-9377-F9C5-5326-C08B843D0FA7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Ⅱ.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알고리즘 및 네트워크 구조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(Double DQN)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pic>
        <p:nvPicPr>
          <p:cNvPr id="5" name="그림 4" descr="도표, 라인, 스케치, 패턴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51823BD5-E987-608C-F41B-8D975459136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15877" y="2518704"/>
            <a:ext cx="4274244" cy="2333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943275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68AE4C6-E503-A992-6C94-8FEFA78758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B578F4DC-279E-5F0A-D427-F6D1D8B037ED}"/>
              </a:ext>
            </a:extLst>
          </p:cNvPr>
          <p:cNvGrpSpPr/>
          <p:nvPr/>
        </p:nvGrpSpPr>
        <p:grpSpPr>
          <a:xfrm>
            <a:off x="317134" y="1036639"/>
            <a:ext cx="6258175" cy="338554"/>
            <a:chOff x="261714" y="1043782"/>
            <a:chExt cx="6258175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043DE7B0-6279-8B9B-E2AF-6CED34BB64B4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B6BD544E-0612-1153-EA41-095057016C8A}"/>
                </a:ext>
              </a:extLst>
            </p:cNvPr>
            <p:cNvSpPr txBox="1"/>
            <p:nvPr/>
          </p:nvSpPr>
          <p:spPr>
            <a:xfrm>
              <a:off x="308958" y="1043782"/>
              <a:ext cx="621093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사용자 정의 가능한 시뮬레이션 환경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(Customizable Simulation Environment)</a:t>
              </a:r>
              <a:endParaRPr kumimoji="0" lang="ko-KR" altLang="en-US" sz="1600" b="0" i="0" u="none" strike="noStrike" kern="1200" cap="none" spc="-80" normalizeH="0" baseline="0" noProof="0" dirty="0">
                <a:ln>
                  <a:noFill/>
                </a:ln>
                <a:gradFill>
                  <a:gsLst>
                    <a:gs pos="0">
                      <a:prstClr val="black"/>
                    </a:gs>
                    <a:gs pos="100000">
                      <a:prstClr val="black"/>
                    </a:gs>
                  </a:gsLst>
                  <a:lin ang="5400000" scaled="0"/>
                </a:gra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  <a:cs typeface="+mn-cs"/>
              </a:endParaRPr>
            </a:p>
          </p:txBody>
        </p:sp>
      </p:grpSp>
      <p:grpSp>
        <p:nvGrpSpPr>
          <p:cNvPr id="39" name="그룹 38">
            <a:extLst>
              <a:ext uri="{FF2B5EF4-FFF2-40B4-BE49-F238E27FC236}">
                <a16:creationId xmlns:a16="http://schemas.microsoft.com/office/drawing/2014/main" id="{F6D5DD7D-1340-E133-1CC8-0516BB81B175}"/>
              </a:ext>
            </a:extLst>
          </p:cNvPr>
          <p:cNvGrpSpPr/>
          <p:nvPr/>
        </p:nvGrpSpPr>
        <p:grpSpPr>
          <a:xfrm>
            <a:off x="452438" y="4573961"/>
            <a:ext cx="9256593" cy="1838965"/>
            <a:chOff x="452439" y="1790115"/>
            <a:chExt cx="9256593" cy="1838965"/>
          </a:xfrm>
          <a:solidFill>
            <a:schemeClr val="bg1"/>
          </a:solidFill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D26F382A-1605-1944-9356-71486066E22F}"/>
                </a:ext>
              </a:extLst>
            </p:cNvPr>
            <p:cNvSpPr txBox="1"/>
            <p:nvPr/>
          </p:nvSpPr>
          <p:spPr>
            <a:xfrm>
              <a:off x="452439" y="1790115"/>
              <a:ext cx="4679950" cy="1838965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1. 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리드타임 </a:t>
              </a: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&amp; </a:t>
              </a:r>
              <a:r>
                <a:rPr kumimoji="0" lang="ko-KR" altLang="en-US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스케일 </a:t>
              </a:r>
              <a:r>
                <a:rPr kumimoji="0" lang="en-US" altLang="ko-KR" sz="1050" b="1" i="0" u="none" strike="noStrike" kern="0" cap="none" spc="0" normalizeH="0" baseline="0" noProof="0" dirty="0">
                  <a:ln>
                    <a:noFill/>
                  </a:ln>
                  <a:solidFill>
                    <a:schemeClr val="tx1">
                      <a:lumMod val="85000"/>
                      <a:lumOff val="15000"/>
                    </a:schemeClr>
                  </a:soli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(Logistics Constraints)</a:t>
              </a: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Lead Time (Min/Max)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공급망 상황에 따른 입고 지연일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설정 가능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Capacity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창고 규모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최대 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200,000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개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에 따른 제약 조건 반영</a:t>
              </a:r>
              <a:endParaRPr lang="en-US" altLang="ko-KR" sz="1050" b="1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2. </a:t>
              </a:r>
              <a:r>
                <a:rPr lang="ko-KR" altLang="en-US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비용 구조 </a:t>
              </a: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(Cost Structure)</a:t>
              </a: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Holding vs Stockout Cost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재고 유지비와 </a:t>
              </a:r>
              <a:r>
                <a:rPr lang="ko-KR" altLang="en-US" sz="105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품절비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비율 조정을 통해 에이전트 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　　　　　　　　　　　　　　성향 변화 실험 가능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Fixed Order Cost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고정 </a:t>
              </a:r>
              <a:r>
                <a:rPr lang="ko-KR" altLang="en-US" sz="1050" spc="-5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주문비</a:t>
              </a:r>
              <a:r>
                <a:rPr lang="ko-KR" altLang="en-US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설정을 통해 배치 주문</a:t>
              </a:r>
              <a:r>
                <a:rPr lang="en-US" altLang="ko-KR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(Batch Ordering) </a:t>
              </a:r>
              <a:r>
                <a:rPr lang="ko-KR" altLang="en-US" sz="1050" spc="-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전략 유도</a:t>
              </a:r>
              <a:endParaRPr lang="en-US" altLang="ko-KR" sz="1050" b="1" kern="0" spc="-5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endParaRPr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E93EB3E7-2675-DA6E-A28F-A8097071F4D9}"/>
                </a:ext>
              </a:extLst>
            </p:cNvPr>
            <p:cNvSpPr txBox="1"/>
            <p:nvPr/>
          </p:nvSpPr>
          <p:spPr>
            <a:xfrm>
              <a:off x="5029082" y="1790115"/>
              <a:ext cx="4679950" cy="1046440"/>
            </a:xfrm>
            <a:prstGeom prst="rect">
              <a:avLst/>
            </a:prstGeom>
            <a:grpFill/>
          </p:spPr>
          <p:txBody>
            <a:bodyPr wrap="square" rtlCol="0">
              <a:spAutoFit/>
            </a:bodyPr>
            <a:lstStyle/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3. </a:t>
              </a:r>
              <a:r>
                <a:rPr lang="ko-KR" altLang="en-US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수요 프로파일 </a:t>
              </a:r>
              <a:r>
                <a:rPr lang="en-US" altLang="ko-KR" sz="1050" b="1" kern="0" dirty="0">
                  <a:solidFill>
                    <a:schemeClr val="tx1">
                      <a:lumMod val="85000"/>
                      <a:lumOff val="15000"/>
                    </a:schemeClr>
                  </a:solidFill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(Demand Profile)</a:t>
              </a: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Uncertainty Level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Low/Medium/High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등 변동성 강도 조절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050" dirty="0">
                  <a:highlight>
                    <a:srgbClr val="E9F5F5"/>
                  </a:highlight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Demand Pattern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Seasonal(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계절성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), Trending(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추세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), Volatile(</a:t>
              </a:r>
              <a:r>
                <a:rPr lang="ko-KR" altLang="en-US" sz="105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급변동</a:t>
              </a:r>
              <a:r>
                <a:rPr lang="en-US" altLang="ko-KR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 </a:t>
              </a: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등 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ko-KR" altLang="en-US" sz="105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　　　　　　　　　　다양한 수요 시나리오 테스트 지원</a:t>
              </a:r>
              <a:endParaRPr lang="en-US" altLang="ko-KR" sz="105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3EDDA05E-A527-40B8-D877-2AA6B8D9FFCF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실험 셋업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–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시뮬레이션 환경 및 파라미터 설계</a:t>
            </a: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2FF822D7-29A9-E607-9219-28C388A981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14080" y="1609904"/>
            <a:ext cx="6147433" cy="2735373"/>
          </a:xfrm>
          <a:prstGeom prst="rect">
            <a:avLst/>
          </a:prstGeom>
        </p:spPr>
      </p:pic>
      <p:pic>
        <p:nvPicPr>
          <p:cNvPr id="19" name="그림 18">
            <a:extLst>
              <a:ext uri="{FF2B5EF4-FFF2-40B4-BE49-F238E27FC236}">
                <a16:creationId xmlns:a16="http://schemas.microsoft.com/office/drawing/2014/main" id="{44352D6F-5882-3BED-F0D8-AE4CE295DF2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04" y="1609590"/>
            <a:ext cx="1171650" cy="2736000"/>
          </a:xfrm>
          <a:prstGeom prst="rect">
            <a:avLst/>
          </a:prstGeom>
        </p:spPr>
      </p:pic>
      <p:pic>
        <p:nvPicPr>
          <p:cNvPr id="21" name="그림 20">
            <a:extLst>
              <a:ext uri="{FF2B5EF4-FFF2-40B4-BE49-F238E27FC236}">
                <a16:creationId xmlns:a16="http://schemas.microsoft.com/office/drawing/2014/main" id="{9C9CCC75-4D67-54E1-6C93-F4E331E96A2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6766" y="1629108"/>
            <a:ext cx="1244635" cy="273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4606500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9BE3FB-ABE0-5331-8FCD-67E085C08E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CBB3BBEC-C66E-B9A3-99F2-25F94C54D75B}"/>
              </a:ext>
            </a:extLst>
          </p:cNvPr>
          <p:cNvGrpSpPr/>
          <p:nvPr/>
        </p:nvGrpSpPr>
        <p:grpSpPr>
          <a:xfrm>
            <a:off x="317134" y="1036639"/>
            <a:ext cx="3693435" cy="338554"/>
            <a:chOff x="261714" y="1043782"/>
            <a:chExt cx="3693435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B66408A6-4446-7CC0-7BBA-2BAAC0352DE2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AA805F91-9554-8ECA-755E-A707BC4D390A}"/>
                </a:ext>
              </a:extLst>
            </p:cNvPr>
            <p:cNvSpPr txBox="1"/>
            <p:nvPr/>
          </p:nvSpPr>
          <p:spPr>
            <a:xfrm>
              <a:off x="308958" y="1043782"/>
              <a:ext cx="3646191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학습 성능 향상을 위한 </a:t>
              </a:r>
              <a:r>
                <a:rPr kumimoji="0" lang="ko-KR" altLang="en-US" sz="1600" b="0" i="0" u="none" strike="noStrike" kern="1200" cap="none" spc="-80" normalizeH="0" baseline="0" noProof="0" dirty="0" err="1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하이퍼파라미터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 최적화</a:t>
              </a:r>
            </a:p>
          </p:txBody>
        </p:sp>
      </p:grpSp>
      <p:sp>
        <p:nvSpPr>
          <p:cNvPr id="33" name="TextBox 32">
            <a:extLst>
              <a:ext uri="{FF2B5EF4-FFF2-40B4-BE49-F238E27FC236}">
                <a16:creationId xmlns:a16="http://schemas.microsoft.com/office/drawing/2014/main" id="{EC887A72-ABE5-2B14-F57E-E8962EAF959F}"/>
              </a:ext>
            </a:extLst>
          </p:cNvPr>
          <p:cNvSpPr txBox="1"/>
          <p:nvPr/>
        </p:nvSpPr>
        <p:spPr>
          <a:xfrm>
            <a:off x="510344" y="1429720"/>
            <a:ext cx="8885311" cy="5037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20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Learning Rate (</a:t>
            </a:r>
            <a:r>
              <a:rPr kumimoji="0" lang="ko-KR" altLang="en-US" sz="1600" b="1" i="0" u="none" strike="noStrike" kern="0" cap="none" spc="0" normalizeH="0" baseline="0" noProof="0" dirty="0" err="1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학습률</a:t>
            </a:r>
            <a:r>
              <a:rPr kumimoji="0" lang="en-US" altLang="ko-KR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kumimoji="0" lang="ko-KR" altLang="en-US" sz="1600" b="1" i="0" u="none" strike="noStrike" kern="0" cap="none" spc="0" normalizeH="0" baseline="0" noProof="0" dirty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조정</a:t>
            </a:r>
            <a:endParaRPr kumimoji="0" lang="en-US" altLang="ko-KR" sz="1600" b="1" i="0" u="none" strike="noStrike" kern="0" cap="none" spc="0" normalizeH="0" baseline="0" noProof="0" dirty="0">
              <a:ln>
                <a:noFill/>
              </a:ln>
              <a:solidFill>
                <a:schemeClr val="tx1">
                  <a:lumMod val="85000"/>
                  <a:lumOff val="15000"/>
                </a:schemeClr>
              </a:solidFill>
              <a:effectLst/>
              <a:uLnTx/>
              <a:uFillTx/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Before (1e-7)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학습 속도가 지나치게 느려 가중치 업데이트 미비 →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Underfitting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발생</a:t>
            </a:r>
            <a:endParaRPr lang="en-US" altLang="ko-KR" sz="15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After (1e-4)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보폭을 키워 초기 수렴 속도를 확보하되 발산하지 않는 </a:t>
            </a:r>
            <a:r>
              <a:rPr lang="ko-KR" altLang="en-US" sz="15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최적값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선정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Effect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학습 효율성 증대 및 정상적인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Loss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감소 유도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Epsilon Decay (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탐험 감소율</a:t>
            </a: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)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완화</a:t>
            </a: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Before (0.999)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탐험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(Exploration)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 너무 빠르게 종료됨  →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Local Optima(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국소 최적해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정체</a:t>
            </a:r>
            <a:endParaRPr lang="en-US" altLang="ko-KR" sz="15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After (0.9998)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감쇠율을 완만하게 조정하여 충분한 탐험 기간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(Exploration Phase)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확보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Effect</a:t>
            </a:r>
            <a:r>
              <a:rPr lang="en-US" altLang="ko-KR" sz="150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State-Action Pair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경험을 통해 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Global Optimum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수렴 유도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Replay Buffer Size </a:t>
            </a:r>
            <a:r>
              <a:rPr lang="ko-KR" altLang="en-US" sz="1600" b="1" kern="0" dirty="0">
                <a:solidFill>
                  <a:schemeClr val="tx1">
                    <a:lumMod val="85000"/>
                    <a:lumOff val="15000"/>
                  </a:schemeClr>
                </a:solidFill>
                <a:latin typeface="KoPub돋움체 Bold" panose="00000800000000000000" pitchFamily="2" charset="-127"/>
                <a:ea typeface="KoPub돋움체 Bold" panose="00000800000000000000" pitchFamily="2" charset="-127"/>
              </a:rPr>
              <a:t>확대</a:t>
            </a:r>
            <a:endParaRPr lang="en-US" altLang="ko-KR" sz="1600" b="1" kern="0" dirty="0">
              <a:solidFill>
                <a:schemeClr val="tx1">
                  <a:lumMod val="85000"/>
                  <a:lumOff val="15000"/>
                </a:schemeClr>
              </a:solidFill>
              <a:latin typeface="KoPub돋움체 Bold" panose="00000800000000000000" pitchFamily="2" charset="-127"/>
              <a:ea typeface="KoPub돋움체 Bold" panose="000008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Setting (100,000)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대용량 버퍼 메모리 확보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Purpose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데이터 간의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시간적 상관관계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(Temporal Correlation)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제거</a:t>
            </a:r>
            <a:endParaRPr lang="en-US" altLang="ko-KR" sz="1500" b="1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r>
              <a:rPr lang="en-US" altLang="ko-KR" sz="10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· 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Effect</a:t>
            </a:r>
            <a:r>
              <a: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샘플의 </a:t>
            </a:r>
            <a:r>
              <a:rPr lang="en-US" altLang="ko-KR" sz="1500" b="1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i.i.d</a:t>
            </a:r>
            <a:r>
              <a: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(Independent and Identically Distributed) </a:t>
            </a:r>
            <a:r>
              <a:rPr lang="ko-KR" altLang="en-US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조건</a:t>
            </a:r>
            <a:r>
              <a:rPr lang="ko-KR" altLang="en-US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을 만족시켜 학습 안정성 강화</a:t>
            </a:r>
            <a:endParaRPr lang="en-US" altLang="ko-KR" sz="15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atinLnBrk="0">
              <a:spcBef>
                <a:spcPts val="600"/>
              </a:spcBef>
              <a:spcAft>
                <a:spcPts val="200"/>
              </a:spcAft>
              <a:defRPr/>
            </a:pPr>
            <a:endParaRPr lang="en-US" altLang="ko-KR" sz="1500" b="1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8A9BA7ED-21D6-FFD4-EE1C-1DCA8FA09E07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학습 최적화 및 </a:t>
            </a:r>
            <a:r>
              <a:rPr lang="ko-KR" altLang="en-US" dirty="0" err="1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하이퍼파라미터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 튜닝</a:t>
            </a:r>
          </a:p>
        </p:txBody>
      </p:sp>
    </p:spTree>
    <p:extLst>
      <p:ext uri="{BB962C8B-B14F-4D97-AF65-F5344CB8AC3E}">
        <p14:creationId xmlns:p14="http://schemas.microsoft.com/office/powerpoint/2010/main" val="39693713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D5935D-4C48-94C4-7357-6E72C572D2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7B030102-737F-705A-0390-34B3220C7E80}"/>
              </a:ext>
            </a:extLst>
          </p:cNvPr>
          <p:cNvGrpSpPr/>
          <p:nvPr/>
        </p:nvGrpSpPr>
        <p:grpSpPr>
          <a:xfrm>
            <a:off x="317134" y="1036639"/>
            <a:ext cx="4282250" cy="338554"/>
            <a:chOff x="261714" y="1043782"/>
            <a:chExt cx="4282250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D02561B0-D619-8680-DFC1-F6EAB04A980A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C918D9C5-2CF3-75A1-3EF5-A48500EB0FB7}"/>
                </a:ext>
              </a:extLst>
            </p:cNvPr>
            <p:cNvSpPr txBox="1"/>
            <p:nvPr/>
          </p:nvSpPr>
          <p:spPr>
            <a:xfrm>
              <a:off x="308958" y="1043782"/>
              <a:ext cx="4235006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코드 실행 결과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1: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학습 곡선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(Reward)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및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Loss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그래프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B0C93A53-983D-0F18-C51B-19DC22E38EF2}"/>
              </a:ext>
            </a:extLst>
          </p:cNvPr>
          <p:cNvSpPr txBox="1"/>
          <p:nvPr/>
        </p:nvSpPr>
        <p:spPr>
          <a:xfrm>
            <a:off x="452438" y="4320800"/>
            <a:ext cx="8716962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[Phase 1: Exploration (0~280 ep)]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높은 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탐험률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el-GR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ϵ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로 인해 무작위 주문이 발생하여 주문이 발생하며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-2,000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수준의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                           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낮은 보상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높은 비용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에서 횡보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>
              <a:defRPr/>
            </a:pPr>
            <a:endParaRPr lang="en-US" altLang="ko-KR" sz="5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[Phase 2: Exploitation &amp; Convergence (280~450 ep)]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유의미한 패턴을 학습하며 보상이 급격히 상승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300 </a:t>
            </a:r>
            <a:r>
              <a:rPr lang="ko-KR" altLang="en-US" sz="1400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에피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                                                          </a:t>
            </a:r>
            <a:r>
              <a:rPr lang="ko-KR" altLang="en-US" sz="1400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소드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부근에서 성능의 </a:t>
            </a:r>
            <a:r>
              <a:rPr lang="ko-KR" altLang="en-US" sz="1400" dirty="0" err="1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퀀텀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점프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(Quantum Jump)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발생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endParaRPr lang="en-US" altLang="ko-KR" sz="5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[Phase 3: Stability (450+ ep)]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보상이 약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-600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수준에서 안정적으로 수렴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.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초반 대비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약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70%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이상의 비용 절감 효과 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                     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달성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endParaRPr lang="en-US" altLang="ko-KR" sz="5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[Loss Analysis]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초기 급락 후 완만하게 상승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/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유지되는 패턴은 </a:t>
            </a: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Target Network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지속적으로 업데이트되며 새로운</a:t>
            </a:r>
            <a:endParaRPr lang="en-US" altLang="ko-KR" sz="1400" dirty="0">
              <a:solidFill>
                <a:srgbClr val="FF0000"/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                      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경험을 안정적으로 학습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하고 있음을 시사함</a:t>
            </a:r>
            <a:endParaRPr kumimoji="0" lang="en-US" altLang="ko-KR" sz="7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lumMod val="75000"/>
                  <a:lumOff val="25000"/>
                </a:prstClr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  <a:cs typeface="+mn-cs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50682E79-83C7-4618-8069-E98DED27303B}"/>
              </a:ext>
            </a:extLst>
          </p:cNvPr>
          <p:cNvSpPr/>
          <p:nvPr/>
        </p:nvSpPr>
        <p:spPr>
          <a:xfrm>
            <a:off x="328748" y="4271057"/>
            <a:ext cx="9304202" cy="2090056"/>
          </a:xfrm>
          <a:prstGeom prst="roundRect">
            <a:avLst>
              <a:gd name="adj" fmla="val 5690"/>
            </a:avLst>
          </a:prstGeom>
          <a:noFill/>
          <a:ln>
            <a:solidFill>
              <a:srgbClr val="333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CF792EAA-FB22-B23E-268C-BC6062B2300F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실험 결과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(1) -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학습 성능 분석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(Learning Curve)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18B9F2F1-B4AE-40AB-855E-9EC2831953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68391" y="1630250"/>
            <a:ext cx="3369218" cy="2385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9940593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68ACD9-6435-F7A6-0E78-36D76A83B0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그룹 9">
            <a:extLst>
              <a:ext uri="{FF2B5EF4-FFF2-40B4-BE49-F238E27FC236}">
                <a16:creationId xmlns:a16="http://schemas.microsoft.com/office/drawing/2014/main" id="{D1C72E0E-BF75-986E-C7EA-0E3F5B47068F}"/>
              </a:ext>
            </a:extLst>
          </p:cNvPr>
          <p:cNvGrpSpPr/>
          <p:nvPr/>
        </p:nvGrpSpPr>
        <p:grpSpPr>
          <a:xfrm>
            <a:off x="317134" y="1036639"/>
            <a:ext cx="5152103" cy="338554"/>
            <a:chOff x="261714" y="1043782"/>
            <a:chExt cx="5152103" cy="338554"/>
          </a:xfrm>
        </p:grpSpPr>
        <p:cxnSp>
          <p:nvCxnSpPr>
            <p:cNvPr id="11" name="직선 연결선 10">
              <a:extLst>
                <a:ext uri="{FF2B5EF4-FFF2-40B4-BE49-F238E27FC236}">
                  <a16:creationId xmlns:a16="http://schemas.microsoft.com/office/drawing/2014/main" id="{1F8ED1A1-9B8B-CE34-6837-892B02904133}"/>
                </a:ext>
              </a:extLst>
            </p:cNvPr>
            <p:cNvCxnSpPr>
              <a:cxnSpLocks/>
            </p:cNvCxnSpPr>
            <p:nvPr/>
          </p:nvCxnSpPr>
          <p:spPr>
            <a:xfrm>
              <a:off x="261714" y="1102702"/>
              <a:ext cx="0" cy="220715"/>
            </a:xfrm>
            <a:prstGeom prst="line">
              <a:avLst/>
            </a:prstGeom>
            <a:ln w="57150">
              <a:solidFill>
                <a:srgbClr val="024383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D547A06E-34E9-A798-BC21-C079D6D75618}"/>
                </a:ext>
              </a:extLst>
            </p:cNvPr>
            <p:cNvSpPr txBox="1"/>
            <p:nvPr/>
          </p:nvSpPr>
          <p:spPr>
            <a:xfrm>
              <a:off x="308958" y="1043782"/>
              <a:ext cx="510485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marL="0" marR="0" lvl="0" indent="0" algn="l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코드 실행 결과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2: 180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일간의 </a:t>
              </a:r>
              <a:r>
                <a:rPr kumimoji="0" lang="en-US" altLang="ko-KR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Inventory/Demand/Order </a:t>
              </a:r>
              <a:r>
                <a:rPr kumimoji="0" lang="ko-KR" altLang="en-US" sz="1600" b="0" i="0" u="none" strike="noStrike" kern="1200" cap="none" spc="-80" normalizeH="0" baseline="0" noProof="0" dirty="0">
                  <a:ln>
                    <a:noFill/>
                  </a:ln>
                  <a:gradFill>
                    <a:gsLst>
                      <a:gs pos="0">
                        <a:prstClr val="black"/>
                      </a:gs>
                      <a:gs pos="100000">
                        <a:prstClr val="black"/>
                      </a:gs>
                    </a:gsLst>
                    <a:lin ang="5400000" scaled="0"/>
                  </a:gradFill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  <a:cs typeface="+mn-cs"/>
                </a:rPr>
                <a:t>그래프</a:t>
              </a:r>
            </a:p>
          </p:txBody>
        </p:sp>
      </p:grpSp>
      <p:sp>
        <p:nvSpPr>
          <p:cNvPr id="8" name="TextBox 7">
            <a:extLst>
              <a:ext uri="{FF2B5EF4-FFF2-40B4-BE49-F238E27FC236}">
                <a16:creationId xmlns:a16="http://schemas.microsoft.com/office/drawing/2014/main" id="{8E73809B-4456-2BF8-6E59-0B4EA670A1DD}"/>
              </a:ext>
            </a:extLst>
          </p:cNvPr>
          <p:cNvSpPr txBox="1"/>
          <p:nvPr/>
        </p:nvSpPr>
        <p:spPr>
          <a:xfrm>
            <a:off x="452438" y="4320800"/>
            <a:ext cx="8716962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>
              <a:defRPr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[Strategy 1: High Safety Stock (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안전 재고 확보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)]</a:t>
            </a:r>
          </a:p>
          <a:p>
            <a:pPr lvl="0">
              <a:defRPr/>
            </a:pP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재고를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0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 맞추기보다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평균 수요 대비 넉넉한 재고를 상시 유지함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b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품절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패널티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(50)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유지비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(0.5)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100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배인 환경에서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품절 리스크를 원천 차단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하려는 전략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lvl="0">
              <a:defRPr/>
            </a:pP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/>
            </a:r>
            <a:b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[Strategy 2: Batch Ordering (</a:t>
            </a:r>
            <a:r>
              <a:rPr lang="ko-KR" altLang="en-US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대량 주문</a:t>
            </a:r>
            <a:r>
              <a:rPr lang="en-US" altLang="ko-KR" sz="1400" b="1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)]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: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빨간색 그래프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주문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간헐적인 스파이크 형태로 나타남</a:t>
            </a:r>
            <a:endParaRPr lang="en-US" altLang="ko-KR" sz="1400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>
              <a:defRPr/>
            </a:pP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→ 고정 </a:t>
            </a:r>
            <a:r>
              <a:rPr lang="ko-KR" altLang="en-US" sz="1400" dirty="0" err="1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주문비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(1,000)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를 절감하기 위해</a:t>
            </a:r>
            <a:r>
              <a:rPr lang="en-US" altLang="ko-KR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매일 주문하지 않고 </a:t>
            </a:r>
            <a:r>
              <a:rPr lang="ko-KR" altLang="en-US" sz="1400" dirty="0">
                <a:solidFill>
                  <a:srgbClr val="FF0000"/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필요한 시점에 몰아서 주문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하는 경제적 판단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  <a:p>
            <a:pPr marR="0" lvl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lang="en-US" altLang="ko-KR" sz="1400" b="1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[Performance]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</a:t>
            </a:r>
            <a:b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</a:b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 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높은 수요 변동성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(Variability)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에도 불구하고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, 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재고 그래프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파란선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가 수요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(</a:t>
            </a:r>
            <a:r>
              <a:rPr lang="ko-KR" altLang="en-US" sz="1400" dirty="0" err="1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주황선</a:t>
            </a:r>
            <a:r>
              <a:rPr lang="en-US" altLang="ko-KR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)</a:t>
            </a:r>
            <a:r>
              <a:rPr lang="ko-KR" altLang="en-US" sz="1400" dirty="0">
                <a:solidFill>
                  <a:prstClr val="black">
                    <a:lumMod val="75000"/>
                    <a:lumOff val="25000"/>
                  </a:prstClr>
                </a:solidFill>
                <a:latin typeface="KoPub돋움체 Medium" panose="00000600000000000000" pitchFamily="2" charset="-127"/>
                <a:ea typeface="KoPub돋움체 Medium" panose="00000600000000000000" pitchFamily="2" charset="-127"/>
              </a:rPr>
              <a:t>의 추세를 안정적으로 방어함</a:t>
            </a:r>
            <a:endParaRPr lang="en-US" altLang="ko-KR" sz="1400" dirty="0">
              <a:solidFill>
                <a:prstClr val="black">
                  <a:lumMod val="75000"/>
                  <a:lumOff val="25000"/>
                </a:prstClr>
              </a:solidFill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15" name="사각형: 둥근 모서리 14">
            <a:extLst>
              <a:ext uri="{FF2B5EF4-FFF2-40B4-BE49-F238E27FC236}">
                <a16:creationId xmlns:a16="http://schemas.microsoft.com/office/drawing/2014/main" id="{39CE32AB-F073-456B-C9AC-4533CCB03C20}"/>
              </a:ext>
            </a:extLst>
          </p:cNvPr>
          <p:cNvSpPr/>
          <p:nvPr/>
        </p:nvSpPr>
        <p:spPr>
          <a:xfrm>
            <a:off x="328748" y="4271057"/>
            <a:ext cx="9304202" cy="2090056"/>
          </a:xfrm>
          <a:prstGeom prst="roundRect">
            <a:avLst>
              <a:gd name="adj" fmla="val 5690"/>
            </a:avLst>
          </a:prstGeom>
          <a:noFill/>
          <a:ln>
            <a:solidFill>
              <a:srgbClr val="333F5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sp>
        <p:nvSpPr>
          <p:cNvPr id="2" name="직사각형 1">
            <a:extLst>
              <a:ext uri="{FF2B5EF4-FFF2-40B4-BE49-F238E27FC236}">
                <a16:creationId xmlns:a16="http://schemas.microsoft.com/office/drawing/2014/main" id="{2D26F9D8-9BF5-56BA-1603-9938BE0016BE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Ⅲ.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실험 결과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(2) -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에이전트 행동 분석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(Behavior Analysis)</a:t>
            </a:r>
            <a:endParaRPr lang="ko-KR" altLang="en-US" dirty="0">
              <a:solidFill>
                <a:prstClr val="white"/>
              </a:solidFill>
              <a:latin typeface="KoPub바탕체 Bold" panose="00000800000000000000" pitchFamily="2" charset="-127"/>
              <a:ea typeface="KoPub바탕체 Bold" panose="00000800000000000000" pitchFamily="2" charset="-127"/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92FFE70C-7ABF-9EBC-1218-D11CC2D387B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51040" y="1599964"/>
            <a:ext cx="5459618" cy="2434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485696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C70A6A-AF8F-33F2-5606-7DCA20EC27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DFEB2A53-691B-2177-7E89-29A6FCDA2491}"/>
              </a:ext>
            </a:extLst>
          </p:cNvPr>
          <p:cNvGrpSpPr/>
          <p:nvPr/>
        </p:nvGrpSpPr>
        <p:grpSpPr>
          <a:xfrm>
            <a:off x="304800" y="905232"/>
            <a:ext cx="9090855" cy="4873129"/>
            <a:chOff x="304800" y="1620838"/>
            <a:chExt cx="9090855" cy="4873129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94F57F41-A871-4765-37B2-8E33EC64799C}"/>
                </a:ext>
              </a:extLst>
            </p:cNvPr>
            <p:cNvSpPr txBox="1"/>
            <p:nvPr/>
          </p:nvSpPr>
          <p:spPr>
            <a:xfrm>
              <a:off x="510344" y="1790115"/>
              <a:ext cx="8885311" cy="47038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Research Summary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재고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-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품절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-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주문 비용 간의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트레이드오프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(Trade-off)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를 최적화하는 강화학습 환경 구축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Double DQN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을 통해 고정 주문 비용과 리드타임을 고려한 적응형 정책 학습 성공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학습 곡선 및 행동 패턴 분석을 통해 에이전트의 전략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대량 주문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선제적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대응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)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해석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Key Implications (</a:t>
              </a:r>
              <a:r>
                <a:rPr lang="ko-KR" altLang="en-US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시사점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MDP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설계의 중요성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상태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(State),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행동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(Action),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보상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(Reward)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설계가 알고리즘 자체보다 성능에 더 직접적인 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                              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영향을 미침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학습 안정성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보상 스케일링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(Scaling)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과 정규화가 학습 수렴의 핵심 요인임을 확인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en-US" altLang="ko-KR" sz="10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·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가능성 확인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: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단순화된 환경이지만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, RL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이 복잡한 재고 관리 문제의 자동화된 정책 수립 도구로 활용될 가능성 입증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 err="1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Limitatons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 (</a:t>
              </a:r>
              <a:r>
                <a:rPr lang="ko-KR" altLang="en-US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현실과의 괴리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단일 품목</a:t>
              </a:r>
              <a:r>
                <a:rPr lang="en-US" altLang="ko-KR" sz="1500" b="1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(Single Item)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및 단순화된 주문 단가 모델의 한계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이산화된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행동 공간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(Discrete Action)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으로 인한 정밀한 제어 부족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6B49591C-9405-43B2-D7EA-DA2E676F3860}"/>
                </a:ext>
              </a:extLst>
            </p:cNvPr>
            <p:cNvSpPr txBox="1"/>
            <p:nvPr/>
          </p:nvSpPr>
          <p:spPr>
            <a:xfrm>
              <a:off x="304800" y="1620838"/>
              <a:ext cx="11493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6639C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sym typeface="Wingdings" panose="05000000000000000000" pitchFamily="2" charset="2"/>
                </a:rPr>
                <a:t> </a:t>
              </a:r>
              <a:endParaRPr lang="ko-KR" altLang="en-US" sz="1600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98EE2810-74C2-AA9E-C837-255C81ADA0DF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결론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–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프로젝트 요약 및 시사점</a:t>
            </a:r>
          </a:p>
        </p:txBody>
      </p:sp>
    </p:spTree>
    <p:extLst>
      <p:ext uri="{BB962C8B-B14F-4D97-AF65-F5344CB8AC3E}">
        <p14:creationId xmlns:p14="http://schemas.microsoft.com/office/powerpoint/2010/main" val="151217625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3991A2-FD81-1E8F-C3AF-B192AE87FD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그룹 38">
            <a:extLst>
              <a:ext uri="{FF2B5EF4-FFF2-40B4-BE49-F238E27FC236}">
                <a16:creationId xmlns:a16="http://schemas.microsoft.com/office/drawing/2014/main" id="{8194D6C1-A013-E473-0DB8-77B3246A8F84}"/>
              </a:ext>
            </a:extLst>
          </p:cNvPr>
          <p:cNvGrpSpPr/>
          <p:nvPr/>
        </p:nvGrpSpPr>
        <p:grpSpPr>
          <a:xfrm>
            <a:off x="407572" y="3822168"/>
            <a:ext cx="9090855" cy="2539157"/>
            <a:chOff x="304800" y="1620838"/>
            <a:chExt cx="9090855" cy="2539157"/>
          </a:xfrm>
        </p:grpSpPr>
        <p:sp>
          <p:nvSpPr>
            <p:cNvPr id="33" name="TextBox 32">
              <a:extLst>
                <a:ext uri="{FF2B5EF4-FFF2-40B4-BE49-F238E27FC236}">
                  <a16:creationId xmlns:a16="http://schemas.microsoft.com/office/drawing/2014/main" id="{F874FC4D-AA41-D019-D289-36721F1F17BE}"/>
                </a:ext>
              </a:extLst>
            </p:cNvPr>
            <p:cNvSpPr txBox="1"/>
            <p:nvPr/>
          </p:nvSpPr>
          <p:spPr>
            <a:xfrm>
              <a:off x="510344" y="1790115"/>
              <a:ext cx="8885311" cy="236988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600"/>
                </a:spcBef>
                <a:spcAft>
                  <a:spcPts val="20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o-KR" altLang="en-US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알고리즘 확장 </a:t>
              </a:r>
              <a:r>
                <a:rPr kumimoji="0" lang="en-US" altLang="ko-KR" sz="1600" b="1" i="0" u="none" strike="noStrike" kern="0" cap="none" spc="0" normalizeH="0" baseline="0" noProof="0" dirty="0">
                  <a:ln>
                    <a:noFill/>
                  </a:ln>
                  <a:effectLst/>
                  <a:uLnTx/>
                  <a:uFillTx/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(Continuous Control)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DDPG, SAC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등 연속 제어 알고리즘을 도입하여 정밀한 주문량 최적화 시도</a:t>
              </a:r>
              <a:endParaRPr lang="en-US" altLang="ko-KR" sz="1500" b="1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ko-KR" altLang="en-US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환경 고도화 </a:t>
              </a: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(Multi-item &amp; Pricing)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단일 품목을 넘어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다품목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(Multi-item) </a:t>
              </a:r>
              <a:r>
                <a:rPr lang="ko-KR" altLang="en-US" sz="1500" dirty="0" err="1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혼적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상황에서의 창고 용량 최적화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0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유통기한이 있는 신선식품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(Perishable Goods)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시나리오 적용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  <a:p>
              <a:pPr lvl="0"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600" b="1" kern="0" dirty="0">
                  <a:latin typeface="KoPub돋움체 Bold" panose="00000800000000000000" pitchFamily="2" charset="-127"/>
                  <a:ea typeface="KoPub돋움체 Bold" panose="00000800000000000000" pitchFamily="2" charset="-127"/>
                </a:rPr>
                <a:t>Real-world Deployment</a:t>
              </a:r>
            </a:p>
            <a:p>
              <a:pPr latinLnBrk="0">
                <a:spcBef>
                  <a:spcPts val="600"/>
                </a:spcBef>
                <a:spcAft>
                  <a:spcPts val="200"/>
                </a:spcAft>
                <a:defRPr/>
              </a:pP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 ·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시뮬레이션 데이터가 아닌 실제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ERP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데이터와 연동하여 </a:t>
              </a:r>
              <a:r>
                <a:rPr lang="en-US" altLang="ko-KR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Offline RL </a:t>
              </a:r>
              <a:r>
                <a:rPr lang="ko-KR" altLang="en-US" sz="1500" dirty="0">
                  <a:latin typeface="KoPub돋움체 Medium" panose="00000600000000000000" pitchFamily="2" charset="-127"/>
                  <a:ea typeface="KoPub돋움체 Medium" panose="00000600000000000000" pitchFamily="2" charset="-127"/>
                </a:rPr>
                <a:t>기법 적용 검토</a:t>
              </a:r>
              <a:endParaRPr lang="en-US" altLang="ko-KR" sz="1500" dirty="0">
                <a:latin typeface="KoPub돋움체 Medium" panose="00000600000000000000" pitchFamily="2" charset="-127"/>
                <a:ea typeface="KoPub돋움체 Medium" panose="00000600000000000000" pitchFamily="2" charset="-127"/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70440ACF-ED12-C184-BB72-82B0529E580D}"/>
                </a:ext>
              </a:extLst>
            </p:cNvPr>
            <p:cNvSpPr txBox="1"/>
            <p:nvPr/>
          </p:nvSpPr>
          <p:spPr>
            <a:xfrm>
              <a:off x="304800" y="1620838"/>
              <a:ext cx="1149350" cy="33855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altLang="ko-KR" sz="1600" b="1" dirty="0">
                  <a:solidFill>
                    <a:srgbClr val="6639CD"/>
                  </a:solidFill>
                  <a:latin typeface="KoPub돋움체 Medium" panose="00000600000000000000" pitchFamily="2" charset="-127"/>
                  <a:ea typeface="KoPub돋움체 Medium" panose="00000600000000000000" pitchFamily="2" charset="-127"/>
                  <a:sym typeface="Wingdings" panose="05000000000000000000" pitchFamily="2" charset="2"/>
                </a:rPr>
                <a:t> </a:t>
              </a:r>
              <a:endParaRPr lang="ko-KR" altLang="en-US" sz="1600" dirty="0"/>
            </a:p>
          </p:txBody>
        </p:sp>
      </p:grpSp>
      <p:sp>
        <p:nvSpPr>
          <p:cNvPr id="2" name="직사각형 1">
            <a:extLst>
              <a:ext uri="{FF2B5EF4-FFF2-40B4-BE49-F238E27FC236}">
                <a16:creationId xmlns:a16="http://schemas.microsoft.com/office/drawing/2014/main" id="{D901220D-FE1E-D2D3-FC0C-CB63D15577B2}"/>
              </a:ext>
            </a:extLst>
          </p:cNvPr>
          <p:cNvSpPr/>
          <p:nvPr/>
        </p:nvSpPr>
        <p:spPr>
          <a:xfrm>
            <a:off x="186727" y="-30035"/>
            <a:ext cx="8515526" cy="8419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lvl="0">
              <a:defRPr/>
            </a:pP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Ⅳ.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결론 </a:t>
            </a:r>
            <a:r>
              <a:rPr lang="en-US" altLang="ko-KR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– </a:t>
            </a:r>
            <a:r>
              <a:rPr lang="ko-KR" altLang="en-US" dirty="0">
                <a:solidFill>
                  <a:prstClr val="white"/>
                </a:solidFill>
                <a:latin typeface="KoPub바탕체 Bold" panose="00000800000000000000" pitchFamily="2" charset="-127"/>
                <a:ea typeface="KoPub바탕체 Bold" panose="00000800000000000000" pitchFamily="2" charset="-127"/>
              </a:rPr>
              <a:t>향후 과제</a:t>
            </a:r>
          </a:p>
        </p:txBody>
      </p:sp>
      <p:pic>
        <p:nvPicPr>
          <p:cNvPr id="5" name="그림 4" descr="텍스트, 스크린샷, 폰트, 로고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CDD2DD9E-2F3B-7850-207E-4C4DF268FC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67450" y="974731"/>
            <a:ext cx="5371100" cy="29320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647177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직사각형 26">
            <a:extLst>
              <a:ext uri="{FF2B5EF4-FFF2-40B4-BE49-F238E27FC236}">
                <a16:creationId xmlns:a16="http://schemas.microsoft.com/office/drawing/2014/main" id="{15A3455E-3061-4EF9-90C7-073CDDA0B1F9}"/>
              </a:ext>
            </a:extLst>
          </p:cNvPr>
          <p:cNvSpPr/>
          <p:nvPr/>
        </p:nvSpPr>
        <p:spPr>
          <a:xfrm>
            <a:off x="0" y="0"/>
            <a:ext cx="9912478" cy="6858000"/>
          </a:xfrm>
          <a:prstGeom prst="rect">
            <a:avLst/>
          </a:prstGeom>
          <a:solidFill>
            <a:schemeClr val="tx2">
              <a:lumMod val="7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154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KoPub돋움체 Medium" panose="00000600000000000000" pitchFamily="2" charset="-127"/>
              <a:ea typeface="KoPub돋움체 Medium" panose="00000600000000000000" pitchFamily="2" charset="-127"/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A7E164-C380-4CD3-8E3F-B659A083488E}"/>
              </a:ext>
            </a:extLst>
          </p:cNvPr>
          <p:cNvPicPr>
            <a:picLocks noChangeAspect="1"/>
          </p:cNvPicPr>
          <p:nvPr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966" b="26771"/>
          <a:stretch/>
        </p:blipFill>
        <p:spPr>
          <a:xfrm>
            <a:off x="149754" y="4640826"/>
            <a:ext cx="3603096" cy="221717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C870D04E-2ABB-C399-159C-3F6FCA3E9F9E}"/>
              </a:ext>
            </a:extLst>
          </p:cNvPr>
          <p:cNvSpPr txBox="1"/>
          <p:nvPr/>
        </p:nvSpPr>
        <p:spPr>
          <a:xfrm>
            <a:off x="1255125" y="2986542"/>
            <a:ext cx="7395749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3600" spc="-7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 </a:t>
            </a:r>
            <a:r>
              <a:rPr lang="ko-KR" altLang="en-US" sz="3600" spc="-70" dirty="0">
                <a:solidFill>
                  <a:schemeClr val="bg1"/>
                </a:solidFill>
                <a:latin typeface="G마켓 산스 Bold" panose="02000000000000000000" pitchFamily="50" charset="-127"/>
                <a:ea typeface="G마켓 산스 Bold" panose="02000000000000000000" pitchFamily="50" charset="-127"/>
              </a:rPr>
              <a:t>감사합니다🙂</a:t>
            </a:r>
            <a:endParaRPr lang="ko-KR" altLang="en-US" sz="3200" dirty="0">
              <a:solidFill>
                <a:schemeClr val="accent4"/>
              </a:solidFill>
              <a:latin typeface="G마켓 산스 Bold" panose="02000000000000000000" pitchFamily="50" charset="-127"/>
              <a:ea typeface="G마켓 산스 Bold" panose="02000000000000000000" pitchFamily="50" charset="-127"/>
            </a:endParaRPr>
          </a:p>
        </p:txBody>
      </p:sp>
      <p:cxnSp>
        <p:nvCxnSpPr>
          <p:cNvPr id="4" name="직선 연결선 3">
            <a:extLst>
              <a:ext uri="{FF2B5EF4-FFF2-40B4-BE49-F238E27FC236}">
                <a16:creationId xmlns:a16="http://schemas.microsoft.com/office/drawing/2014/main" id="{C079B8C8-48C1-DCA2-9087-BEFDAFF76CAA}"/>
              </a:ext>
            </a:extLst>
          </p:cNvPr>
          <p:cNvCxnSpPr>
            <a:cxnSpLocks/>
          </p:cNvCxnSpPr>
          <p:nvPr/>
        </p:nvCxnSpPr>
        <p:spPr>
          <a:xfrm>
            <a:off x="3582649" y="3644223"/>
            <a:ext cx="2765685" cy="0"/>
          </a:xfrm>
          <a:prstGeom prst="line">
            <a:avLst/>
          </a:prstGeom>
          <a:ln w="19050">
            <a:solidFill>
              <a:schemeClr val="tx2">
                <a:lumMod val="40000"/>
                <a:lumOff val="6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305104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kopub">
      <a:majorFont>
        <a:latin typeface="맑은 고딕"/>
        <a:ea typeface="KoPub돋움체_Pro Bold"/>
        <a:cs typeface=""/>
      </a:majorFont>
      <a:minorFont>
        <a:latin typeface="맑은 고딕"/>
        <a:ea typeface="KoPub돋움체_Pro Medium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05BB2F68090E6E4BA96695830B7887E7" ma:contentTypeVersion="15" ma:contentTypeDescription="새 문서를 만듭니다." ma:contentTypeScope="" ma:versionID="405ca7ced9d5f27566bd8d4a9e0279da">
  <xsd:schema xmlns:xsd="http://www.w3.org/2001/XMLSchema" xmlns:xs="http://www.w3.org/2001/XMLSchema" xmlns:p="http://schemas.microsoft.com/office/2006/metadata/properties" xmlns:ns2="c5d2d4e3-3807-4a63-b1fd-d13b7a4ed0ed" xmlns:ns3="68be5aea-11e0-4654-aa65-0c9e3cea7a48" targetNamespace="http://schemas.microsoft.com/office/2006/metadata/properties" ma:root="true" ma:fieldsID="5071958b574af4ac133cfd96544a9917" ns2:_="" ns3:_="">
    <xsd:import namespace="c5d2d4e3-3807-4a63-b1fd-d13b7a4ed0ed"/>
    <xsd:import namespace="68be5aea-11e0-4654-aa65-0c9e3cea7a48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ObjectDetectorVersions" minOccurs="0"/>
                <xsd:element ref="ns2:MediaLengthInSeconds" minOccurs="0"/>
                <xsd:element ref="ns2:MediaServiceLocation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3:SharedWithUsers" minOccurs="0"/>
                <xsd:element ref="ns3:SharedWithDetail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5d2d4e3-3807-4a63-b1fd-d13b7a4ed0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13" nillable="true" ma:displayName="Location" ma:indexed="true" ma:internalName="MediaServiceLocatio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7" nillable="true" ma:taxonomy="true" ma:internalName="lcf76f155ced4ddcb4097134ff3c332f" ma:taxonomyFieldName="MediaServiceImageTags" ma:displayName="이미지 태그" ma:readOnly="false" ma:fieldId="{5cf76f15-5ced-4ddc-b409-7134ff3c332f}" ma:taxonomyMulti="true" ma:sspId="660f5272-308d-4843-a751-1f431fb78aa6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SearchProperties" ma:index="22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8be5aea-11e0-4654-aa65-0c9e3cea7a48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52053199-877c-4954-b7cc-a57933340257}" ma:internalName="TaxCatchAll" ma:showField="CatchAllData" ma:web="68be5aea-11e0-4654-aa65-0c9e3cea7a48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20" nillable="true" ma:displayName="공유 대상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1" nillable="true" ma:displayName="세부 정보 공유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73CC6D8-9518-46DF-91E1-4C3D83E5F86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c5d2d4e3-3807-4a63-b1fd-d13b7a4ed0ed"/>
    <ds:schemaRef ds:uri="68be5aea-11e0-4654-aa65-0c9e3cea7a48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2CFA995-AD47-4593-85C1-053DECB673A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11629</TotalTime>
  <Words>1804</Words>
  <Application>Microsoft Office PowerPoint</Application>
  <PresentationFormat>A4 용지(210x297mm)</PresentationFormat>
  <Paragraphs>246</Paragraphs>
  <Slides>15</Slides>
  <Notes>13</Notes>
  <HiddenSlides>0</HiddenSlides>
  <MMClips>0</MMClips>
  <ScaleCrop>false</ScaleCrop>
  <HeadingPairs>
    <vt:vector size="6" baseType="variant">
      <vt:variant>
        <vt:lpstr>사용한 글꼴</vt:lpstr>
      </vt:variant>
      <vt:variant>
        <vt:i4>12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8" baseType="lpstr">
      <vt:lpstr>바탕</vt:lpstr>
      <vt:lpstr>HY견고딕</vt:lpstr>
      <vt:lpstr>Wingdings</vt:lpstr>
      <vt:lpstr>Arial</vt:lpstr>
      <vt:lpstr>KoPub돋움체 Bold</vt:lpstr>
      <vt:lpstr>G마켓 산스 Bold</vt:lpstr>
      <vt:lpstr>KoPub돋움체_Pro Medium</vt:lpstr>
      <vt:lpstr>맑은 고딕</vt:lpstr>
      <vt:lpstr>KoPub바탕체 Bold</vt:lpstr>
      <vt:lpstr>KoPub돋움체 Medium</vt:lpstr>
      <vt:lpstr>JBold</vt:lpstr>
      <vt:lpstr>KoPub바탕체 Medium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nepescorp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Q-Pang Team</dc:creator>
  <cp:lastModifiedBy>유문식 제작기술부</cp:lastModifiedBy>
  <cp:revision>1661</cp:revision>
  <dcterms:created xsi:type="dcterms:W3CDTF">2022-03-10T04:40:22Z</dcterms:created>
  <dcterms:modified xsi:type="dcterms:W3CDTF">2025-12-07T05:35:00Z</dcterms:modified>
</cp:coreProperties>
</file>